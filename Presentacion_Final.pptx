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4" r:id="rId6"/>
    <p:sldId id="260" r:id="rId7"/>
    <p:sldId id="262" r:id="rId8"/>
    <p:sldId id="275" r:id="rId9"/>
    <p:sldId id="263" r:id="rId10"/>
    <p:sldId id="271" r:id="rId11"/>
    <p:sldId id="272" r:id="rId12"/>
    <p:sldId id="273" r:id="rId13"/>
    <p:sldId id="274" r:id="rId14"/>
    <p:sldId id="269" r:id="rId15"/>
    <p:sldId id="270" r:id="rId16"/>
    <p:sldId id="265" r:id="rId17"/>
    <p:sldId id="276" r:id="rId18"/>
    <p:sldId id="277" r:id="rId19"/>
    <p:sldId id="278" r:id="rId20"/>
    <p:sldId id="279" r:id="rId21"/>
    <p:sldId id="267" r:id="rId22"/>
    <p:sldId id="280" r:id="rId23"/>
    <p:sldId id="281" r:id="rId24"/>
    <p:sldId id="268" r:id="rId25"/>
    <p:sldId id="266" r:id="rId26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E8385C-8A94-16F7-6EB1-03F10E2E1298}" v="5" dt="2026-06-19T20:49:20.9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olina Medina" userId="70e2d102fea2be0b" providerId="Windows Live" clId="Web-{28E8385C-8A94-16F7-6EB1-03F10E2E1298}"/>
    <pc:docChg chg="modSld">
      <pc:chgData name="Carolina Medina" userId="70e2d102fea2be0b" providerId="Windows Live" clId="Web-{28E8385C-8A94-16F7-6EB1-03F10E2E1298}" dt="2026-06-19T20:49:20.926" v="4" actId="14100"/>
      <pc:docMkLst>
        <pc:docMk/>
      </pc:docMkLst>
      <pc:sldChg chg="addSp modSp">
        <pc:chgData name="Carolina Medina" userId="70e2d102fea2be0b" providerId="Windows Live" clId="Web-{28E8385C-8A94-16F7-6EB1-03F10E2E1298}" dt="2026-06-19T20:49:20.926" v="4" actId="14100"/>
        <pc:sldMkLst>
          <pc:docMk/>
          <pc:sldMk cId="2391963198" sldId="256"/>
        </pc:sldMkLst>
        <pc:picChg chg="add mod">
          <ac:chgData name="Carolina Medina" userId="70e2d102fea2be0b" providerId="Windows Live" clId="Web-{28E8385C-8A94-16F7-6EB1-03F10E2E1298}" dt="2026-06-19T20:49:20.926" v="4" actId="14100"/>
          <ac:picMkLst>
            <pc:docMk/>
            <pc:sldMk cId="2391963198" sldId="256"/>
            <ac:picMk id="2" creationId="{940DD14E-9A2F-BEB9-BA28-E596FDF87D46}"/>
          </ac:picMkLst>
        </pc:picChg>
        <pc:picChg chg="mod">
          <ac:chgData name="Carolina Medina" userId="70e2d102fea2be0b" providerId="Windows Live" clId="Web-{28E8385C-8A94-16F7-6EB1-03F10E2E1298}" dt="2026-06-19T20:49:14.191" v="3" actId="1076"/>
          <ac:picMkLst>
            <pc:docMk/>
            <pc:sldMk cId="2391963198" sldId="256"/>
            <ac:picMk id="1026" creationId="{DBCE0F62-5978-5D25-A8E3-872B6D0A9912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E45140C-C326-4DAA-A267-498AD5117D68}" type="doc">
      <dgm:prSet loTypeId="urn:microsoft.com/office/officeart/2005/8/layout/vList4" loCatId="picture" qsTypeId="urn:microsoft.com/office/officeart/2005/8/quickstyle/simple5" qsCatId="simple" csTypeId="urn:microsoft.com/office/officeart/2005/8/colors/accent5_2" csCatId="accent5" phldr="1"/>
      <dgm:spPr/>
      <dgm:t>
        <a:bodyPr/>
        <a:lstStyle/>
        <a:p>
          <a:endParaRPr lang="es-CL"/>
        </a:p>
      </dgm:t>
    </dgm:pt>
    <dgm:pt modelId="{78BFB295-8F5D-4286-B72B-79142F8F0E13}">
      <dgm:prSet phldrT="[Texto]"/>
      <dgm:spPr/>
      <dgm:t>
        <a:bodyPr/>
        <a:lstStyle/>
        <a:p>
          <a:r>
            <a:rPr lang="es-ES" dirty="0"/>
            <a:t>Axel Monsalves H.</a:t>
          </a:r>
          <a:endParaRPr lang="es-CL" dirty="0"/>
        </a:p>
      </dgm:t>
    </dgm:pt>
    <dgm:pt modelId="{F1885FAB-61EC-4F80-98D0-72360031AF9F}" type="parTrans" cxnId="{2AD07198-D472-4B98-B6D5-5A730374E9A2}">
      <dgm:prSet/>
      <dgm:spPr/>
      <dgm:t>
        <a:bodyPr/>
        <a:lstStyle/>
        <a:p>
          <a:endParaRPr lang="es-CL"/>
        </a:p>
      </dgm:t>
    </dgm:pt>
    <dgm:pt modelId="{E88D0928-51D4-4670-8963-60ABBB193E13}" type="sibTrans" cxnId="{2AD07198-D472-4B98-B6D5-5A730374E9A2}">
      <dgm:prSet/>
      <dgm:spPr/>
      <dgm:t>
        <a:bodyPr/>
        <a:lstStyle/>
        <a:p>
          <a:endParaRPr lang="es-CL"/>
        </a:p>
      </dgm:t>
    </dgm:pt>
    <dgm:pt modelId="{D868444B-AE34-4422-A6A5-1F7D392D0C20}">
      <dgm:prSet phldrT="[Texto]"/>
      <dgm:spPr/>
      <dgm:t>
        <a:bodyPr/>
        <a:lstStyle/>
        <a:p>
          <a:pPr>
            <a:buNone/>
          </a:pPr>
          <a:r>
            <a:rPr lang="es-CL" dirty="0"/>
            <a:t>Diseñador UX-UI</a:t>
          </a:r>
        </a:p>
      </dgm:t>
    </dgm:pt>
    <dgm:pt modelId="{7DB88D83-6C3A-48C1-8CAD-0D11C3BEC35C}" type="parTrans" cxnId="{484B8A37-0122-4FF5-93D2-4A15DF521A17}">
      <dgm:prSet/>
      <dgm:spPr/>
      <dgm:t>
        <a:bodyPr/>
        <a:lstStyle/>
        <a:p>
          <a:endParaRPr lang="es-CL"/>
        </a:p>
      </dgm:t>
    </dgm:pt>
    <dgm:pt modelId="{74B9B1A5-94EB-40A9-BFF2-678501068FB8}" type="sibTrans" cxnId="{484B8A37-0122-4FF5-93D2-4A15DF521A17}">
      <dgm:prSet/>
      <dgm:spPr/>
      <dgm:t>
        <a:bodyPr/>
        <a:lstStyle/>
        <a:p>
          <a:endParaRPr lang="es-CL"/>
        </a:p>
      </dgm:t>
    </dgm:pt>
    <dgm:pt modelId="{02A34BC0-F8BA-4A89-87A4-4F20079DFD06}">
      <dgm:prSet phldrT="[Texto]"/>
      <dgm:spPr/>
      <dgm:t>
        <a:bodyPr/>
        <a:lstStyle/>
        <a:p>
          <a:r>
            <a:rPr lang="es-ES" dirty="0"/>
            <a:t>Martin Ortiz</a:t>
          </a:r>
          <a:endParaRPr lang="es-CL" dirty="0"/>
        </a:p>
      </dgm:t>
    </dgm:pt>
    <dgm:pt modelId="{9ADB496F-2DB6-4F16-8C91-2EB9CDF5F2F2}" type="parTrans" cxnId="{0E2AE979-A66C-4CEC-BFF4-5B28BB7CD9EA}">
      <dgm:prSet/>
      <dgm:spPr/>
      <dgm:t>
        <a:bodyPr/>
        <a:lstStyle/>
        <a:p>
          <a:endParaRPr lang="es-CL"/>
        </a:p>
      </dgm:t>
    </dgm:pt>
    <dgm:pt modelId="{44AB630E-CD8B-4223-9F51-5EEE4E054B0A}" type="sibTrans" cxnId="{0E2AE979-A66C-4CEC-BFF4-5B28BB7CD9EA}">
      <dgm:prSet/>
      <dgm:spPr/>
      <dgm:t>
        <a:bodyPr/>
        <a:lstStyle/>
        <a:p>
          <a:endParaRPr lang="es-CL"/>
        </a:p>
      </dgm:t>
    </dgm:pt>
    <dgm:pt modelId="{99FF0D0F-282A-4030-9AF5-3B7621881539}">
      <dgm:prSet phldrT="[Texto]"/>
      <dgm:spPr/>
      <dgm:t>
        <a:bodyPr/>
        <a:lstStyle/>
        <a:p>
          <a:r>
            <a:rPr lang="es-ES" dirty="0"/>
            <a:t>Lucas Fuentes</a:t>
          </a:r>
          <a:endParaRPr lang="es-CL" dirty="0"/>
        </a:p>
      </dgm:t>
    </dgm:pt>
    <dgm:pt modelId="{A86F315C-C500-49D7-B443-1D58BD48589A}" type="parTrans" cxnId="{4FE7AF63-70AC-4ED4-8BFB-DCB2408F3318}">
      <dgm:prSet/>
      <dgm:spPr/>
      <dgm:t>
        <a:bodyPr/>
        <a:lstStyle/>
        <a:p>
          <a:endParaRPr lang="es-CL"/>
        </a:p>
      </dgm:t>
    </dgm:pt>
    <dgm:pt modelId="{1CCC8D2D-CD28-4814-B055-28ABD65CA276}" type="sibTrans" cxnId="{4FE7AF63-70AC-4ED4-8BFB-DCB2408F3318}">
      <dgm:prSet/>
      <dgm:spPr/>
      <dgm:t>
        <a:bodyPr/>
        <a:lstStyle/>
        <a:p>
          <a:endParaRPr lang="es-CL"/>
        </a:p>
      </dgm:t>
    </dgm:pt>
    <dgm:pt modelId="{2E221207-005F-49CB-81E1-6D036D64322B}">
      <dgm:prSet phldrT="[Texto]"/>
      <dgm:spPr/>
      <dgm:t>
        <a:bodyPr/>
        <a:lstStyle/>
        <a:p>
          <a:pPr>
            <a:buNone/>
          </a:pPr>
          <a:r>
            <a:rPr lang="es-CL" dirty="0"/>
            <a:t>Diseño visual de las pantallas principales del Administrador y del Residente.</a:t>
          </a:r>
        </a:p>
      </dgm:t>
    </dgm:pt>
    <dgm:pt modelId="{3728DB5E-E904-481D-A1E5-49CF4AFFC0D3}" type="sibTrans" cxnId="{1C3272C9-C630-4D60-B76B-138907BB4D41}">
      <dgm:prSet/>
      <dgm:spPr/>
      <dgm:t>
        <a:bodyPr/>
        <a:lstStyle/>
        <a:p>
          <a:endParaRPr lang="es-CL"/>
        </a:p>
      </dgm:t>
    </dgm:pt>
    <dgm:pt modelId="{B200B6AA-AA2A-4CB8-80FF-4BB54938E8A5}" type="parTrans" cxnId="{1C3272C9-C630-4D60-B76B-138907BB4D41}">
      <dgm:prSet/>
      <dgm:spPr/>
      <dgm:t>
        <a:bodyPr/>
        <a:lstStyle/>
        <a:p>
          <a:endParaRPr lang="es-CL"/>
        </a:p>
      </dgm:t>
    </dgm:pt>
    <dgm:pt modelId="{A2BD12B5-7AB5-4859-B57E-1E77C0ED35DF}">
      <dgm:prSet phldrT="[Texto]"/>
      <dgm:spPr/>
      <dgm:t>
        <a:bodyPr/>
        <a:lstStyle/>
        <a:p>
          <a:pPr>
            <a:buNone/>
          </a:pPr>
          <a:r>
            <a:rPr lang="es-CL" dirty="0"/>
            <a:t>Diseñador UX-UI</a:t>
          </a:r>
        </a:p>
      </dgm:t>
    </dgm:pt>
    <dgm:pt modelId="{35EEEEB1-B116-40C6-8142-8F938AF38B0B}" type="sibTrans" cxnId="{D5771F2D-99A4-4884-A896-FA1E2DEFDD88}">
      <dgm:prSet/>
      <dgm:spPr/>
      <dgm:t>
        <a:bodyPr/>
        <a:lstStyle/>
        <a:p>
          <a:endParaRPr lang="es-CL"/>
        </a:p>
      </dgm:t>
    </dgm:pt>
    <dgm:pt modelId="{AC7F7F07-A811-4CCD-BBFE-DAA4D1F5EE40}" type="parTrans" cxnId="{D5771F2D-99A4-4884-A896-FA1E2DEFDD88}">
      <dgm:prSet/>
      <dgm:spPr/>
      <dgm:t>
        <a:bodyPr/>
        <a:lstStyle/>
        <a:p>
          <a:endParaRPr lang="es-CL"/>
        </a:p>
      </dgm:t>
    </dgm:pt>
    <dgm:pt modelId="{D546635F-000B-49DF-BB26-293CCA777400}">
      <dgm:prSet phldrT="[Texto]"/>
      <dgm:spPr/>
      <dgm:t>
        <a:bodyPr/>
        <a:lstStyle/>
        <a:p>
          <a:pPr>
            <a:buNone/>
          </a:pPr>
          <a:r>
            <a:rPr lang="es-CL" dirty="0"/>
            <a:t>Elaboración del listado de requerimientos funcionales y atributos de calidad en el documento.</a:t>
          </a:r>
        </a:p>
      </dgm:t>
    </dgm:pt>
    <dgm:pt modelId="{B01A0825-9EDF-4B9A-B345-1B486D914AD4}" type="sibTrans" cxnId="{AC0A7FF3-EEC4-470A-823E-BF7AF1556A99}">
      <dgm:prSet/>
      <dgm:spPr/>
      <dgm:t>
        <a:bodyPr/>
        <a:lstStyle/>
        <a:p>
          <a:endParaRPr lang="es-CL"/>
        </a:p>
      </dgm:t>
    </dgm:pt>
    <dgm:pt modelId="{5437D343-BECF-4620-B6C7-7088D8BBD91B}" type="parTrans" cxnId="{AC0A7FF3-EEC4-470A-823E-BF7AF1556A99}">
      <dgm:prSet/>
      <dgm:spPr/>
      <dgm:t>
        <a:bodyPr/>
        <a:lstStyle/>
        <a:p>
          <a:endParaRPr lang="es-CL"/>
        </a:p>
      </dgm:t>
    </dgm:pt>
    <dgm:pt modelId="{EA3B2395-55AF-495E-9D6B-329D2886612F}">
      <dgm:prSet phldrT="[Texto]"/>
      <dgm:spPr/>
      <dgm:t>
        <a:bodyPr/>
        <a:lstStyle/>
        <a:p>
          <a:pPr>
            <a:buNone/>
          </a:pPr>
          <a:r>
            <a:rPr lang="es-CL" dirty="0" err="1"/>
            <a:t>Product</a:t>
          </a:r>
          <a:r>
            <a:rPr lang="es-CL" dirty="0"/>
            <a:t> Owner</a:t>
          </a:r>
        </a:p>
      </dgm:t>
    </dgm:pt>
    <dgm:pt modelId="{11A4E056-7834-4F82-8A9C-B8EA31F159E3}" type="sibTrans" cxnId="{778F2DBC-81F3-476D-BD99-784E4F7153C8}">
      <dgm:prSet/>
      <dgm:spPr/>
      <dgm:t>
        <a:bodyPr/>
        <a:lstStyle/>
        <a:p>
          <a:endParaRPr lang="es-CL"/>
        </a:p>
      </dgm:t>
    </dgm:pt>
    <dgm:pt modelId="{01DA10B6-3F7A-4C8A-AACD-F605EE6CCF20}" type="parTrans" cxnId="{778F2DBC-81F3-476D-BD99-784E4F7153C8}">
      <dgm:prSet/>
      <dgm:spPr/>
      <dgm:t>
        <a:bodyPr/>
        <a:lstStyle/>
        <a:p>
          <a:endParaRPr lang="es-CL"/>
        </a:p>
      </dgm:t>
    </dgm:pt>
    <dgm:pt modelId="{55A2A9EB-4C26-43C3-B721-D475B10BC39B}">
      <dgm:prSet phldrT="[Texto]"/>
      <dgm:spPr/>
      <dgm:t>
        <a:bodyPr/>
        <a:lstStyle/>
        <a:p>
          <a:pPr>
            <a:buNone/>
          </a:pPr>
          <a:r>
            <a:rPr lang="es-CL" dirty="0"/>
            <a:t>Creación del prototipo animado e interactivo en </a:t>
          </a:r>
          <a:r>
            <a:rPr lang="es-CL" dirty="0" err="1"/>
            <a:t>Figma</a:t>
          </a:r>
          <a:r>
            <a:rPr lang="es-CL" dirty="0"/>
            <a:t> para simular el uso real.</a:t>
          </a:r>
        </a:p>
      </dgm:t>
    </dgm:pt>
    <dgm:pt modelId="{4EF4588A-187C-4393-9DFC-C6D80B20E995}" type="sibTrans" cxnId="{ECED70CB-7A25-48F8-9E03-51596FB1E92C}">
      <dgm:prSet/>
      <dgm:spPr/>
      <dgm:t>
        <a:bodyPr/>
        <a:lstStyle/>
        <a:p>
          <a:endParaRPr lang="es-CL"/>
        </a:p>
      </dgm:t>
    </dgm:pt>
    <dgm:pt modelId="{B8424EB2-FFE7-4867-9D5A-EE0D46E8AAFE}" type="parTrans" cxnId="{ECED70CB-7A25-48F8-9E03-51596FB1E92C}">
      <dgm:prSet/>
      <dgm:spPr/>
      <dgm:t>
        <a:bodyPr/>
        <a:lstStyle/>
        <a:p>
          <a:endParaRPr lang="es-CL"/>
        </a:p>
      </dgm:t>
    </dgm:pt>
    <dgm:pt modelId="{6E1E561E-88C1-49C6-A3F7-DE4B9AD43273}" type="pres">
      <dgm:prSet presAssocID="{BE45140C-C326-4DAA-A267-498AD5117D68}" presName="linear" presStyleCnt="0">
        <dgm:presLayoutVars>
          <dgm:dir/>
          <dgm:resizeHandles val="exact"/>
        </dgm:presLayoutVars>
      </dgm:prSet>
      <dgm:spPr/>
    </dgm:pt>
    <dgm:pt modelId="{F70979D0-5925-4EC3-AD84-986E0EC7B0D8}" type="pres">
      <dgm:prSet presAssocID="{78BFB295-8F5D-4286-B72B-79142F8F0E13}" presName="comp" presStyleCnt="0"/>
      <dgm:spPr/>
    </dgm:pt>
    <dgm:pt modelId="{54FC4CB6-0791-48D3-B2C5-2E99B8AFCFF7}" type="pres">
      <dgm:prSet presAssocID="{78BFB295-8F5D-4286-B72B-79142F8F0E13}" presName="box" presStyleLbl="node1" presStyleIdx="0" presStyleCnt="3" custLinFactNeighborX="5318" custLinFactNeighborY="-12417"/>
      <dgm:spPr/>
    </dgm:pt>
    <dgm:pt modelId="{9A7E2690-DE9C-4572-9BE5-B8C9A3B8BBB3}" type="pres">
      <dgm:prSet presAssocID="{78BFB295-8F5D-4286-B72B-79142F8F0E13}" presName="img" presStyleLbl="fgImgPlace1" presStyleIdx="0" presStyleCnt="3"/>
      <dgm:spPr/>
    </dgm:pt>
    <dgm:pt modelId="{52D125D2-FCA7-4A2D-AB39-B6BD54F251F2}" type="pres">
      <dgm:prSet presAssocID="{78BFB295-8F5D-4286-B72B-79142F8F0E13}" presName="text" presStyleLbl="node1" presStyleIdx="0" presStyleCnt="3">
        <dgm:presLayoutVars>
          <dgm:bulletEnabled val="1"/>
        </dgm:presLayoutVars>
      </dgm:prSet>
      <dgm:spPr/>
    </dgm:pt>
    <dgm:pt modelId="{E95CA29D-745B-40BA-93B6-BB607C99A2CE}" type="pres">
      <dgm:prSet presAssocID="{E88D0928-51D4-4670-8963-60ABBB193E13}" presName="spacer" presStyleCnt="0"/>
      <dgm:spPr/>
    </dgm:pt>
    <dgm:pt modelId="{41A67AC8-1DD7-4AB7-96A3-87B24035E3FA}" type="pres">
      <dgm:prSet presAssocID="{02A34BC0-F8BA-4A89-87A4-4F20079DFD06}" presName="comp" presStyleCnt="0"/>
      <dgm:spPr/>
    </dgm:pt>
    <dgm:pt modelId="{39AFE128-ACF6-44CA-B18B-64F5782CF210}" type="pres">
      <dgm:prSet presAssocID="{02A34BC0-F8BA-4A89-87A4-4F20079DFD06}" presName="box" presStyleLbl="node1" presStyleIdx="1" presStyleCnt="3"/>
      <dgm:spPr/>
    </dgm:pt>
    <dgm:pt modelId="{3F97C059-D720-4D48-953F-B84D04D0BF79}" type="pres">
      <dgm:prSet presAssocID="{02A34BC0-F8BA-4A89-87A4-4F20079DFD06}" presName="img" presStyleLbl="fgImgPlace1" presStyleIdx="1" presStyleCnt="3"/>
      <dgm:spPr/>
    </dgm:pt>
    <dgm:pt modelId="{CFFDF23F-D296-4CDF-8EE4-8A672559E207}" type="pres">
      <dgm:prSet presAssocID="{02A34BC0-F8BA-4A89-87A4-4F20079DFD06}" presName="text" presStyleLbl="node1" presStyleIdx="1" presStyleCnt="3">
        <dgm:presLayoutVars>
          <dgm:bulletEnabled val="1"/>
        </dgm:presLayoutVars>
      </dgm:prSet>
      <dgm:spPr/>
    </dgm:pt>
    <dgm:pt modelId="{40453781-DACE-4118-ADC4-2B966E9374E5}" type="pres">
      <dgm:prSet presAssocID="{44AB630E-CD8B-4223-9F51-5EEE4E054B0A}" presName="spacer" presStyleCnt="0"/>
      <dgm:spPr/>
    </dgm:pt>
    <dgm:pt modelId="{536722F8-2BA5-41A1-87DF-BBB1AF7DCA80}" type="pres">
      <dgm:prSet presAssocID="{99FF0D0F-282A-4030-9AF5-3B7621881539}" presName="comp" presStyleCnt="0"/>
      <dgm:spPr/>
    </dgm:pt>
    <dgm:pt modelId="{F36F4ED1-B414-46B8-A8C5-C0FB11F5CFBC}" type="pres">
      <dgm:prSet presAssocID="{99FF0D0F-282A-4030-9AF5-3B7621881539}" presName="box" presStyleLbl="node1" presStyleIdx="2" presStyleCnt="3"/>
      <dgm:spPr/>
    </dgm:pt>
    <dgm:pt modelId="{7C6A764B-C67C-494C-B90E-7B3C3DDE54A4}" type="pres">
      <dgm:prSet presAssocID="{99FF0D0F-282A-4030-9AF5-3B7621881539}" presName="img" presStyleLbl="fgImgPlace1" presStyleIdx="2" presStyleCnt="3"/>
      <dgm:spPr/>
    </dgm:pt>
    <dgm:pt modelId="{0E12AD21-08CC-4736-A269-DD5234F9D874}" type="pres">
      <dgm:prSet presAssocID="{99FF0D0F-282A-4030-9AF5-3B7621881539}" presName="text" presStyleLbl="node1" presStyleIdx="2" presStyleCnt="3">
        <dgm:presLayoutVars>
          <dgm:bulletEnabled val="1"/>
        </dgm:presLayoutVars>
      </dgm:prSet>
      <dgm:spPr/>
    </dgm:pt>
  </dgm:ptLst>
  <dgm:cxnLst>
    <dgm:cxn modelId="{399BD705-2380-48A3-9C48-1D49A5A32D61}" type="presOf" srcId="{2E221207-005F-49CB-81E1-6D036D64322B}" destId="{52D125D2-FCA7-4A2D-AB39-B6BD54F251F2}" srcOrd="1" destOrd="2" presId="urn:microsoft.com/office/officeart/2005/8/layout/vList4"/>
    <dgm:cxn modelId="{D2B94F0C-C779-4AC1-87E4-35116A3DED02}" type="presOf" srcId="{78BFB295-8F5D-4286-B72B-79142F8F0E13}" destId="{54FC4CB6-0791-48D3-B2C5-2E99B8AFCFF7}" srcOrd="0" destOrd="0" presId="urn:microsoft.com/office/officeart/2005/8/layout/vList4"/>
    <dgm:cxn modelId="{D5771F2D-99A4-4884-A896-FA1E2DEFDD88}" srcId="{99FF0D0F-282A-4030-9AF5-3B7621881539}" destId="{A2BD12B5-7AB5-4859-B57E-1E77C0ED35DF}" srcOrd="0" destOrd="0" parTransId="{AC7F7F07-A811-4CCD-BBFE-DAA4D1F5EE40}" sibTransId="{35EEEEB1-B116-40C6-8142-8F938AF38B0B}"/>
    <dgm:cxn modelId="{3A21ED2D-BFFE-4942-BD04-AB5B9DC419E5}" type="presOf" srcId="{99FF0D0F-282A-4030-9AF5-3B7621881539}" destId="{F36F4ED1-B414-46B8-A8C5-C0FB11F5CFBC}" srcOrd="0" destOrd="0" presId="urn:microsoft.com/office/officeart/2005/8/layout/vList4"/>
    <dgm:cxn modelId="{A6E20436-8EF1-4FFF-9C29-AC69BF1D5C4A}" type="presOf" srcId="{02A34BC0-F8BA-4A89-87A4-4F20079DFD06}" destId="{39AFE128-ACF6-44CA-B18B-64F5782CF210}" srcOrd="0" destOrd="0" presId="urn:microsoft.com/office/officeart/2005/8/layout/vList4"/>
    <dgm:cxn modelId="{484B8A37-0122-4FF5-93D2-4A15DF521A17}" srcId="{78BFB295-8F5D-4286-B72B-79142F8F0E13}" destId="{D868444B-AE34-4422-A6A5-1F7D392D0C20}" srcOrd="0" destOrd="0" parTransId="{7DB88D83-6C3A-48C1-8CAD-0D11C3BEC35C}" sibTransId="{74B9B1A5-94EB-40A9-BFF2-678501068FB8}"/>
    <dgm:cxn modelId="{040FC75B-63D6-4205-A996-7A824AA266CE}" type="presOf" srcId="{A2BD12B5-7AB5-4859-B57E-1E77C0ED35DF}" destId="{0E12AD21-08CC-4736-A269-DD5234F9D874}" srcOrd="1" destOrd="1" presId="urn:microsoft.com/office/officeart/2005/8/layout/vList4"/>
    <dgm:cxn modelId="{22F3405C-AB8E-4AC3-A83C-C551BA0831ED}" type="presOf" srcId="{55A2A9EB-4C26-43C3-B721-D475B10BC39B}" destId="{39AFE128-ACF6-44CA-B18B-64F5782CF210}" srcOrd="0" destOrd="2" presId="urn:microsoft.com/office/officeart/2005/8/layout/vList4"/>
    <dgm:cxn modelId="{7E8FC05E-FE02-4336-B1F8-3EAA05519A49}" type="presOf" srcId="{D868444B-AE34-4422-A6A5-1F7D392D0C20}" destId="{54FC4CB6-0791-48D3-B2C5-2E99B8AFCFF7}" srcOrd="0" destOrd="1" presId="urn:microsoft.com/office/officeart/2005/8/layout/vList4"/>
    <dgm:cxn modelId="{4FE7AF63-70AC-4ED4-8BFB-DCB2408F3318}" srcId="{BE45140C-C326-4DAA-A267-498AD5117D68}" destId="{99FF0D0F-282A-4030-9AF5-3B7621881539}" srcOrd="2" destOrd="0" parTransId="{A86F315C-C500-49D7-B443-1D58BD48589A}" sibTransId="{1CCC8D2D-CD28-4814-B055-28ABD65CA276}"/>
    <dgm:cxn modelId="{3F2A6752-A5BB-4F63-B720-93C45E0B4F56}" type="presOf" srcId="{D546635F-000B-49DF-BB26-293CCA777400}" destId="{F36F4ED1-B414-46B8-A8C5-C0FB11F5CFBC}" srcOrd="0" destOrd="2" presId="urn:microsoft.com/office/officeart/2005/8/layout/vList4"/>
    <dgm:cxn modelId="{DC02AD53-682D-464B-9D09-C1B6DCD5AFB0}" type="presOf" srcId="{55A2A9EB-4C26-43C3-B721-D475B10BC39B}" destId="{CFFDF23F-D296-4CDF-8EE4-8A672559E207}" srcOrd="1" destOrd="2" presId="urn:microsoft.com/office/officeart/2005/8/layout/vList4"/>
    <dgm:cxn modelId="{0E2AE979-A66C-4CEC-BFF4-5B28BB7CD9EA}" srcId="{BE45140C-C326-4DAA-A267-498AD5117D68}" destId="{02A34BC0-F8BA-4A89-87A4-4F20079DFD06}" srcOrd="1" destOrd="0" parTransId="{9ADB496F-2DB6-4F16-8C91-2EB9CDF5F2F2}" sibTransId="{44AB630E-CD8B-4223-9F51-5EEE4E054B0A}"/>
    <dgm:cxn modelId="{2AD07198-D472-4B98-B6D5-5A730374E9A2}" srcId="{BE45140C-C326-4DAA-A267-498AD5117D68}" destId="{78BFB295-8F5D-4286-B72B-79142F8F0E13}" srcOrd="0" destOrd="0" parTransId="{F1885FAB-61EC-4F80-98D0-72360031AF9F}" sibTransId="{E88D0928-51D4-4670-8963-60ABBB193E13}"/>
    <dgm:cxn modelId="{FBEF4C9A-E5D4-462C-B35F-96C87426BEAB}" type="presOf" srcId="{A2BD12B5-7AB5-4859-B57E-1E77C0ED35DF}" destId="{F36F4ED1-B414-46B8-A8C5-C0FB11F5CFBC}" srcOrd="0" destOrd="1" presId="urn:microsoft.com/office/officeart/2005/8/layout/vList4"/>
    <dgm:cxn modelId="{690A389C-25C1-485B-88F9-437236A47744}" type="presOf" srcId="{BE45140C-C326-4DAA-A267-498AD5117D68}" destId="{6E1E561E-88C1-49C6-A3F7-DE4B9AD43273}" srcOrd="0" destOrd="0" presId="urn:microsoft.com/office/officeart/2005/8/layout/vList4"/>
    <dgm:cxn modelId="{ECFD91A4-F44F-4C84-8B25-37DA0B249A1F}" type="presOf" srcId="{78BFB295-8F5D-4286-B72B-79142F8F0E13}" destId="{52D125D2-FCA7-4A2D-AB39-B6BD54F251F2}" srcOrd="1" destOrd="0" presId="urn:microsoft.com/office/officeart/2005/8/layout/vList4"/>
    <dgm:cxn modelId="{67DE09B5-392E-4661-A7AE-A0572D63DA68}" type="presOf" srcId="{99FF0D0F-282A-4030-9AF5-3B7621881539}" destId="{0E12AD21-08CC-4736-A269-DD5234F9D874}" srcOrd="1" destOrd="0" presId="urn:microsoft.com/office/officeart/2005/8/layout/vList4"/>
    <dgm:cxn modelId="{778F2DBC-81F3-476D-BD99-784E4F7153C8}" srcId="{02A34BC0-F8BA-4A89-87A4-4F20079DFD06}" destId="{EA3B2395-55AF-495E-9D6B-329D2886612F}" srcOrd="0" destOrd="0" parTransId="{01DA10B6-3F7A-4C8A-AACD-F605EE6CCF20}" sibTransId="{11A4E056-7834-4F82-8A9C-B8EA31F159E3}"/>
    <dgm:cxn modelId="{FE5360C5-555C-42B2-9E63-16D2D46F21B1}" type="presOf" srcId="{D868444B-AE34-4422-A6A5-1F7D392D0C20}" destId="{52D125D2-FCA7-4A2D-AB39-B6BD54F251F2}" srcOrd="1" destOrd="1" presId="urn:microsoft.com/office/officeart/2005/8/layout/vList4"/>
    <dgm:cxn modelId="{1C3272C9-C630-4D60-B76B-138907BB4D41}" srcId="{78BFB295-8F5D-4286-B72B-79142F8F0E13}" destId="{2E221207-005F-49CB-81E1-6D036D64322B}" srcOrd="1" destOrd="0" parTransId="{B200B6AA-AA2A-4CB8-80FF-4BB54938E8A5}" sibTransId="{3728DB5E-E904-481D-A1E5-49CF4AFFC0D3}"/>
    <dgm:cxn modelId="{B0C181C9-77EB-4775-B9E6-C6CBDA60E6EB}" type="presOf" srcId="{EA3B2395-55AF-495E-9D6B-329D2886612F}" destId="{CFFDF23F-D296-4CDF-8EE4-8A672559E207}" srcOrd="1" destOrd="1" presId="urn:microsoft.com/office/officeart/2005/8/layout/vList4"/>
    <dgm:cxn modelId="{ECED70CB-7A25-48F8-9E03-51596FB1E92C}" srcId="{02A34BC0-F8BA-4A89-87A4-4F20079DFD06}" destId="{55A2A9EB-4C26-43C3-B721-D475B10BC39B}" srcOrd="1" destOrd="0" parTransId="{B8424EB2-FFE7-4867-9D5A-EE0D46E8AAFE}" sibTransId="{4EF4588A-187C-4393-9DFC-C6D80B20E995}"/>
    <dgm:cxn modelId="{D1C04ECF-982A-425F-B2B1-9CF15BCEB83B}" type="presOf" srcId="{D546635F-000B-49DF-BB26-293CCA777400}" destId="{0E12AD21-08CC-4736-A269-DD5234F9D874}" srcOrd="1" destOrd="2" presId="urn:microsoft.com/office/officeart/2005/8/layout/vList4"/>
    <dgm:cxn modelId="{22A4C7D2-C14A-4622-8C4E-3FE51F50DCC3}" type="presOf" srcId="{02A34BC0-F8BA-4A89-87A4-4F20079DFD06}" destId="{CFFDF23F-D296-4CDF-8EE4-8A672559E207}" srcOrd="1" destOrd="0" presId="urn:microsoft.com/office/officeart/2005/8/layout/vList4"/>
    <dgm:cxn modelId="{A70C9FD5-2935-4C81-937A-B6C05F5E54BA}" type="presOf" srcId="{2E221207-005F-49CB-81E1-6D036D64322B}" destId="{54FC4CB6-0791-48D3-B2C5-2E99B8AFCFF7}" srcOrd="0" destOrd="2" presId="urn:microsoft.com/office/officeart/2005/8/layout/vList4"/>
    <dgm:cxn modelId="{AC0A7FF3-EEC4-470A-823E-BF7AF1556A99}" srcId="{99FF0D0F-282A-4030-9AF5-3B7621881539}" destId="{D546635F-000B-49DF-BB26-293CCA777400}" srcOrd="1" destOrd="0" parTransId="{5437D343-BECF-4620-B6C7-7088D8BBD91B}" sibTransId="{B01A0825-9EDF-4B9A-B345-1B486D914AD4}"/>
    <dgm:cxn modelId="{7ABE08FD-4ED4-44FB-BFBA-794B6C5FA813}" type="presOf" srcId="{EA3B2395-55AF-495E-9D6B-329D2886612F}" destId="{39AFE128-ACF6-44CA-B18B-64F5782CF210}" srcOrd="0" destOrd="1" presId="urn:microsoft.com/office/officeart/2005/8/layout/vList4"/>
    <dgm:cxn modelId="{DA463EE6-78DB-4E59-8099-EBA029F401B0}" type="presParOf" srcId="{6E1E561E-88C1-49C6-A3F7-DE4B9AD43273}" destId="{F70979D0-5925-4EC3-AD84-986E0EC7B0D8}" srcOrd="0" destOrd="0" presId="urn:microsoft.com/office/officeart/2005/8/layout/vList4"/>
    <dgm:cxn modelId="{2FE346D7-6685-4BD0-9465-988681234E35}" type="presParOf" srcId="{F70979D0-5925-4EC3-AD84-986E0EC7B0D8}" destId="{54FC4CB6-0791-48D3-B2C5-2E99B8AFCFF7}" srcOrd="0" destOrd="0" presId="urn:microsoft.com/office/officeart/2005/8/layout/vList4"/>
    <dgm:cxn modelId="{3671DC51-8308-4E14-B210-C8528BB18500}" type="presParOf" srcId="{F70979D0-5925-4EC3-AD84-986E0EC7B0D8}" destId="{9A7E2690-DE9C-4572-9BE5-B8C9A3B8BBB3}" srcOrd="1" destOrd="0" presId="urn:microsoft.com/office/officeart/2005/8/layout/vList4"/>
    <dgm:cxn modelId="{36512CCB-6AF4-4E79-94F2-3EAFE5E8BC48}" type="presParOf" srcId="{F70979D0-5925-4EC3-AD84-986E0EC7B0D8}" destId="{52D125D2-FCA7-4A2D-AB39-B6BD54F251F2}" srcOrd="2" destOrd="0" presId="urn:microsoft.com/office/officeart/2005/8/layout/vList4"/>
    <dgm:cxn modelId="{ECC56BF9-E938-422B-98CD-A358ACD6F8DC}" type="presParOf" srcId="{6E1E561E-88C1-49C6-A3F7-DE4B9AD43273}" destId="{E95CA29D-745B-40BA-93B6-BB607C99A2CE}" srcOrd="1" destOrd="0" presId="urn:microsoft.com/office/officeart/2005/8/layout/vList4"/>
    <dgm:cxn modelId="{158F6488-FF9D-4053-8FD1-E0DD5F22ECAD}" type="presParOf" srcId="{6E1E561E-88C1-49C6-A3F7-DE4B9AD43273}" destId="{41A67AC8-1DD7-4AB7-96A3-87B24035E3FA}" srcOrd="2" destOrd="0" presId="urn:microsoft.com/office/officeart/2005/8/layout/vList4"/>
    <dgm:cxn modelId="{236FF4A9-4957-4F7A-A24B-795FE34BEEFD}" type="presParOf" srcId="{41A67AC8-1DD7-4AB7-96A3-87B24035E3FA}" destId="{39AFE128-ACF6-44CA-B18B-64F5782CF210}" srcOrd="0" destOrd="0" presId="urn:microsoft.com/office/officeart/2005/8/layout/vList4"/>
    <dgm:cxn modelId="{5BD15FCC-0B87-4D85-98EC-9D897E4655EE}" type="presParOf" srcId="{41A67AC8-1DD7-4AB7-96A3-87B24035E3FA}" destId="{3F97C059-D720-4D48-953F-B84D04D0BF79}" srcOrd="1" destOrd="0" presId="urn:microsoft.com/office/officeart/2005/8/layout/vList4"/>
    <dgm:cxn modelId="{3156CEE4-28C8-4C16-85AC-EE6796DAD482}" type="presParOf" srcId="{41A67AC8-1DD7-4AB7-96A3-87B24035E3FA}" destId="{CFFDF23F-D296-4CDF-8EE4-8A672559E207}" srcOrd="2" destOrd="0" presId="urn:microsoft.com/office/officeart/2005/8/layout/vList4"/>
    <dgm:cxn modelId="{C9CD1524-D5D2-47DD-A731-469F83B73691}" type="presParOf" srcId="{6E1E561E-88C1-49C6-A3F7-DE4B9AD43273}" destId="{40453781-DACE-4118-ADC4-2B966E9374E5}" srcOrd="3" destOrd="0" presId="urn:microsoft.com/office/officeart/2005/8/layout/vList4"/>
    <dgm:cxn modelId="{D2619F68-F71E-4DB7-B3E4-C0C69EDAA7FE}" type="presParOf" srcId="{6E1E561E-88C1-49C6-A3F7-DE4B9AD43273}" destId="{536722F8-2BA5-41A1-87DF-BBB1AF7DCA80}" srcOrd="4" destOrd="0" presId="urn:microsoft.com/office/officeart/2005/8/layout/vList4"/>
    <dgm:cxn modelId="{AFABECF8-EB39-4A9E-BB52-4A457A2CDD0A}" type="presParOf" srcId="{536722F8-2BA5-41A1-87DF-BBB1AF7DCA80}" destId="{F36F4ED1-B414-46B8-A8C5-C0FB11F5CFBC}" srcOrd="0" destOrd="0" presId="urn:microsoft.com/office/officeart/2005/8/layout/vList4"/>
    <dgm:cxn modelId="{F3A74078-C1EC-4C6F-B1ED-565182E04087}" type="presParOf" srcId="{536722F8-2BA5-41A1-87DF-BBB1AF7DCA80}" destId="{7C6A764B-C67C-494C-B90E-7B3C3DDE54A4}" srcOrd="1" destOrd="0" presId="urn:microsoft.com/office/officeart/2005/8/layout/vList4"/>
    <dgm:cxn modelId="{1973AF99-46F9-4317-B911-25815C189087}" type="presParOf" srcId="{536722F8-2BA5-41A1-87DF-BBB1AF7DCA80}" destId="{0E12AD21-08CC-4736-A269-DD5234F9D874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FC4CB6-0791-48D3-B2C5-2E99B8AFCFF7}">
      <dsp:nvSpPr>
        <dsp:cNvPr id="0" name=""/>
        <dsp:cNvSpPr/>
      </dsp:nvSpPr>
      <dsp:spPr>
        <a:xfrm>
          <a:off x="0" y="0"/>
          <a:ext cx="7633494" cy="135954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 dirty="0"/>
            <a:t>Axel Monsalves H.</a:t>
          </a:r>
          <a:endParaRPr lang="es-CL" sz="22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L" sz="1700" kern="1200" dirty="0"/>
            <a:t>Diseñador UX-UI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L" sz="1700" kern="1200" dirty="0"/>
            <a:t>Diseño visual de las pantallas principales del Administrador y del Residente.</a:t>
          </a:r>
        </a:p>
      </dsp:txBody>
      <dsp:txXfrm>
        <a:off x="1662653" y="0"/>
        <a:ext cx="5970840" cy="1359548"/>
      </dsp:txXfrm>
    </dsp:sp>
    <dsp:sp modelId="{9A7E2690-DE9C-4572-9BE5-B8C9A3B8BBB3}">
      <dsp:nvSpPr>
        <dsp:cNvPr id="0" name=""/>
        <dsp:cNvSpPr/>
      </dsp:nvSpPr>
      <dsp:spPr>
        <a:xfrm>
          <a:off x="135954" y="135954"/>
          <a:ext cx="1526698" cy="1087638"/>
        </a:xfrm>
        <a:prstGeom prst="roundRect">
          <a:avLst>
            <a:gd name="adj" fmla="val 10000"/>
          </a:avLst>
        </a:prstGeom>
        <a:solidFill>
          <a:schemeClr val="accent5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39AFE128-ACF6-44CA-B18B-64F5782CF210}">
      <dsp:nvSpPr>
        <dsp:cNvPr id="0" name=""/>
        <dsp:cNvSpPr/>
      </dsp:nvSpPr>
      <dsp:spPr>
        <a:xfrm>
          <a:off x="0" y="1495502"/>
          <a:ext cx="7633494" cy="135954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 dirty="0"/>
            <a:t>Martin Ortiz</a:t>
          </a:r>
          <a:endParaRPr lang="es-CL" sz="22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L" sz="1700" kern="1200" dirty="0" err="1"/>
            <a:t>Product</a:t>
          </a:r>
          <a:r>
            <a:rPr lang="es-CL" sz="1700" kern="1200" dirty="0"/>
            <a:t> Owner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L" sz="1700" kern="1200" dirty="0"/>
            <a:t>Creación del prototipo animado e interactivo en </a:t>
          </a:r>
          <a:r>
            <a:rPr lang="es-CL" sz="1700" kern="1200" dirty="0" err="1"/>
            <a:t>Figma</a:t>
          </a:r>
          <a:r>
            <a:rPr lang="es-CL" sz="1700" kern="1200" dirty="0"/>
            <a:t> para simular el uso real.</a:t>
          </a:r>
        </a:p>
      </dsp:txBody>
      <dsp:txXfrm>
        <a:off x="1662653" y="1495502"/>
        <a:ext cx="5970840" cy="1359548"/>
      </dsp:txXfrm>
    </dsp:sp>
    <dsp:sp modelId="{3F97C059-D720-4D48-953F-B84D04D0BF79}">
      <dsp:nvSpPr>
        <dsp:cNvPr id="0" name=""/>
        <dsp:cNvSpPr/>
      </dsp:nvSpPr>
      <dsp:spPr>
        <a:xfrm>
          <a:off x="135954" y="1631457"/>
          <a:ext cx="1526698" cy="1087638"/>
        </a:xfrm>
        <a:prstGeom prst="roundRect">
          <a:avLst>
            <a:gd name="adj" fmla="val 10000"/>
          </a:avLst>
        </a:prstGeom>
        <a:solidFill>
          <a:schemeClr val="accent5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F36F4ED1-B414-46B8-A8C5-C0FB11F5CFBC}">
      <dsp:nvSpPr>
        <dsp:cNvPr id="0" name=""/>
        <dsp:cNvSpPr/>
      </dsp:nvSpPr>
      <dsp:spPr>
        <a:xfrm>
          <a:off x="0" y="2991005"/>
          <a:ext cx="7633494" cy="135954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 dirty="0"/>
            <a:t>Lucas Fuentes</a:t>
          </a:r>
          <a:endParaRPr lang="es-CL" sz="22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L" sz="1700" kern="1200" dirty="0"/>
            <a:t>Diseñador UX-UI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L" sz="1700" kern="1200" dirty="0"/>
            <a:t>Elaboración del listado de requerimientos funcionales y atributos de calidad en el documento.</a:t>
          </a:r>
        </a:p>
      </dsp:txBody>
      <dsp:txXfrm>
        <a:off x="1662653" y="2991005"/>
        <a:ext cx="5970840" cy="1359548"/>
      </dsp:txXfrm>
    </dsp:sp>
    <dsp:sp modelId="{7C6A764B-C67C-494C-B90E-7B3C3DDE54A4}">
      <dsp:nvSpPr>
        <dsp:cNvPr id="0" name=""/>
        <dsp:cNvSpPr/>
      </dsp:nvSpPr>
      <dsp:spPr>
        <a:xfrm>
          <a:off x="135954" y="3126960"/>
          <a:ext cx="1526698" cy="1087638"/>
        </a:xfrm>
        <a:prstGeom prst="roundRect">
          <a:avLst>
            <a:gd name="adj" fmla="val 10000"/>
          </a:avLst>
        </a:prstGeom>
        <a:solidFill>
          <a:schemeClr val="accent5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32BFE3-57B0-4656-A2CB-2C0CE7C9248C}" type="datetimeFigureOut">
              <a:rPr lang="es-CL" smtClean="0"/>
              <a:t>09-07-2026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BE0FFD-E1A1-4071-9BBD-B789451B92F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464622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64A916-2C2E-265E-D1A7-F8BA8BAA56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E2B618F-FEF4-D0FB-4038-D93A262EA3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43312A-AEFB-3177-E12B-386C4F429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09-07-2026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7C3C00-ADC0-ABB2-EF55-4D170DA0D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B0C28A-E393-39C0-65D4-7252445FA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53887044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A7B6CD-9456-B138-ECD2-C8D7A666C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74D6B0-7AF3-685F-CEAB-5529E05E8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F52F25-C2C6-7F7B-276E-37CD648AA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09-07-2026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947A73-C5CF-9FE2-967B-D4D866F9D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ECAE93-9144-BF33-1401-DF6FFF6FA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23929711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B56A89-B019-96BD-5BAD-62AE0C3AC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22B60B4-76B8-D88B-5674-F86DC3670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DE800A-255F-4AE1-5E56-606A61B37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09-07-2026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DFC92BF-9B9F-10CC-5BC8-BAC85DDB9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372357-062E-F22F-4B80-ED779DDD1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1426009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399D17-3BAA-B1F3-D450-274A02753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60F58E-6555-CC20-7FB5-60DB4AEFC8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2CAA47F-EB54-628D-A823-3A00718BE8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890AFF8-D9BE-4C13-0483-E843C51CA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09-07-2026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ECF5C03-2790-90EB-0D65-AA62820C0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491F526-CDE5-755B-4A3F-50F807763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52846858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9CF108-6B99-8CCE-C8FD-D995F9965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B0B922A-6156-2235-AA95-A8B8C02B3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F40D8F2-325E-B2D8-EDDA-56DE9D1F20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58884F1-5F33-E36A-DEE4-9693FBE7DB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5DF08E0-1508-F512-337D-F5C8A5F0C3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553ED18-81E3-9782-22CD-40D6A1909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09-07-2026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78D2E67-9BFA-E800-3A7E-8900D96D4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56AEF8A-22F0-544A-1B96-40996F1A6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63044769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80A5D8-AC89-1289-2F04-0814CB9B1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703452B-17EB-394F-735B-5A921A58A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09-07-2026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60A54D4-94C4-7743-43A2-1A52792A4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9886359-BA16-2E60-D21D-C9E1AD88B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2827478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9082406-6A57-2057-24EC-1A6C257A2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09-07-2026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D4737A7-3975-9225-3AAC-282F9F456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758996F-BDE4-86FA-BD9D-DFCAB9143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53576406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5B1326-48D6-CCCF-9030-3AC9A67CD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704BD84-4F55-3649-4756-7A4CE760D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F111F47-438E-ECB7-5D1F-CB07E54FD6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01E9545-DD0E-6A0B-2B88-934785A7E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09-07-2026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23CD897-12AF-A56D-CB14-1B41012DE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9257B85-275B-F539-96E6-BF6C3F487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53514770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45BFE8-4F8E-9F77-F45C-B4D870295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3CB21F6-368F-6F50-5C0D-6BE2DDE1E4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012122B-29C5-7F4E-7EFB-41EF277FCE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17332B2-B78B-790B-184B-C7299CC48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09-07-2026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1CBB3B-17B4-113F-AA5B-E804167AD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C8A1FFA-A66B-F32D-E3CE-2337B07F5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36603574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CA4049-BEF3-0AFD-A19B-45FF1D820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4FD3394-1BB2-4A78-E0C2-B81E3B0A0C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B1E014-02B1-2EA8-C324-69C065711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09-07-2026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D9E46F-A5FD-E000-2817-06E54BC72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F151D9-94A1-87E1-B673-4D3D316B9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85804739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B72A6E5-A0E4-586A-8BAE-08F39AC9E9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C8C75B9-2362-53B4-3282-7D8A22F061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97AA35-3C24-08C9-2992-BE0C70C5D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09-07-2026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103D78-DCDD-276E-7575-A1992D704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60B15A-BAF6-5EBF-7331-0AFFFFABE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3337686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48B6D4E-E3C2-3792-E3C4-2CBC2E052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882E89E-FB21-817B-8050-7AD81F9CED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A1C48C-F8B6-B30A-3815-D7ADD14FF2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1704C8-43E3-4F4F-BE90-356A640D5754}" type="datetimeFigureOut">
              <a:rPr lang="es-CL" smtClean="0"/>
              <a:t>09-07-2026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09214F-88E2-1045-9D0B-C2ECD481C3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38CA17-DD6E-139F-6ED9-FAD83BB727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5670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4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jp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4529" y="495097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CASO MIRADOR SUBSISTEMA 1</a:t>
            </a:r>
          </a:p>
          <a:p>
            <a:pPr algn="ctr"/>
            <a:r>
              <a:rPr lang="es-MX" sz="2400" dirty="0"/>
              <a:t>INGENIERÍA DE SOFTWARE | RQY1102</a:t>
            </a:r>
            <a:endParaRPr lang="es-CL" sz="2400" dirty="0"/>
          </a:p>
        </p:txBody>
      </p:sp>
      <p:pic>
        <p:nvPicPr>
          <p:cNvPr id="2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940DD14E-9A2F-BEB9-BA28-E596FDF87D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7963" y="4463247"/>
            <a:ext cx="4536009" cy="1144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1963198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CD98BAAD-E67E-3FB9-220F-BD3AA3645F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17277989"/>
              </p:ext>
            </p:extLst>
          </p:nvPr>
        </p:nvGraphicFramePr>
        <p:xfrm>
          <a:off x="4121026" y="1710819"/>
          <a:ext cx="7633494" cy="43505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CASO MIRADOR – SUBSISTEMA 1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INTEGRANTES, ROLES Y TIPO DE ORGANIZACIÓN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n 7">
            <a:extLst>
              <a:ext uri="{FF2B5EF4-FFF2-40B4-BE49-F238E27FC236}">
                <a16:creationId xmlns:a16="http://schemas.microsoft.com/office/drawing/2014/main" id="{500D6D72-D9C5-6168-A3D5-4B1901B506A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38715" y="3311916"/>
            <a:ext cx="1538242" cy="114836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D2B4D36B-4F16-6D98-C0FB-0E2E7C0348A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38715" y="4811283"/>
            <a:ext cx="1538242" cy="114836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BE1109AD-DF78-790D-36CE-02A31197B86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38715" y="1812549"/>
            <a:ext cx="1538241" cy="1148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815989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CASO MIRADOR – SUBSISTEMA 1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DESCRIPCIÓN Y PROPUESTA DE SOLUCIÓN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5CB288BD-84B1-DF16-6004-32D5F8A61FF7}"/>
              </a:ext>
            </a:extLst>
          </p:cNvPr>
          <p:cNvSpPr/>
          <p:nvPr/>
        </p:nvSpPr>
        <p:spPr>
          <a:xfrm>
            <a:off x="714909" y="2169769"/>
            <a:ext cx="4348705" cy="4092601"/>
          </a:xfrm>
          <a:prstGeom prst="roundRect">
            <a:avLst>
              <a:gd name="adj" fmla="val 109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lvl="0" algn="ctr"/>
            <a:r>
              <a:rPr lang="es-MX" sz="2800" u="sng" dirty="0"/>
              <a:t>Problema / Necesidad del Cliente</a:t>
            </a:r>
          </a:p>
          <a:p>
            <a:pPr lvl="0" algn="ctr"/>
            <a:endParaRPr lang="es-MX" u="sng" dirty="0"/>
          </a:p>
          <a:p>
            <a:pPr algn="just"/>
            <a:r>
              <a:rPr lang="es-CL" sz="1400" dirty="0"/>
              <a:t>El Edificio El Mirador (compuesto por 160 departamentos) enfrenta graves problemas operativos y financieros debido al uso de procesos manuales en su administración. La ineficiencia en la gestión de cobros impide identificar a tiempo a los residentes morosos, lo que afecta directamente el flujo de caja. Este déficit de recursos retrasa el pago de servicios y la ejecución de mantenciones esenciales para la comunidad. Además, la falta de automatización y la comunicación deficiente generan un clima de desconfianza y tensión entre los propietarios, arrendatarios y la administración.</a:t>
            </a:r>
            <a:endParaRPr lang="es-CL" sz="1400" u="sng"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DDC84C5C-77A0-B2A2-F0BB-8A7713B865EA}"/>
              </a:ext>
            </a:extLst>
          </p:cNvPr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name="adj" fmla="val 109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lvl="0" algn="ctr"/>
            <a:r>
              <a:rPr lang="es-MX" sz="2800" u="sng" dirty="0"/>
              <a:t>Propuesta de Solución de Software</a:t>
            </a:r>
          </a:p>
          <a:p>
            <a:pPr lvl="0" algn="ctr"/>
            <a:endParaRPr lang="es-MX" u="sng" dirty="0"/>
          </a:p>
          <a:p>
            <a:r>
              <a:rPr lang="es-CL" sz="1200" dirty="0"/>
              <a:t>Se propone implementar el </a:t>
            </a:r>
            <a:r>
              <a:rPr lang="es-CL" sz="1200" b="1" dirty="0"/>
              <a:t>Sistema de Administración de Comunidades y Gastos Comunes</a:t>
            </a:r>
            <a:r>
              <a:rPr lang="es-CL" sz="1200" dirty="0"/>
              <a:t>, una solución tecnológica centralizada e intuitiva. </a:t>
            </a:r>
          </a:p>
          <a:p>
            <a:r>
              <a:rPr lang="es-CL" sz="1200" b="1" dirty="0"/>
              <a:t>Procesos que automatiza:</a:t>
            </a:r>
            <a:endParaRPr lang="es-CL" sz="1200" dirty="0"/>
          </a:p>
          <a:p>
            <a:r>
              <a:rPr lang="es-CL" sz="1200" dirty="0"/>
              <a:t>El registro y categorización de residentes y la estructura del edificio (torres, propiedades, ocupación). </a:t>
            </a:r>
          </a:p>
          <a:p>
            <a:r>
              <a:rPr lang="es-CL" sz="1200" dirty="0"/>
              <a:t>El ciclo completo de pagos: cálculo de cuotas, generación de recibos y envío de recordatorios de cobranza. </a:t>
            </a:r>
          </a:p>
          <a:p>
            <a:r>
              <a:rPr lang="es-CL" sz="1200" dirty="0"/>
              <a:t>La recepción y gestión de solicitudes de mantenimiento y quejas. </a:t>
            </a:r>
          </a:p>
          <a:p>
            <a:r>
              <a:rPr lang="es-CL" sz="1200" dirty="0"/>
              <a:t>La generación de reportes financieros y de morosidad en tiempo real.</a:t>
            </a:r>
          </a:p>
        </p:txBody>
      </p:sp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E4B09E7F-FBE6-31BF-0C0F-DD32DBE05724}"/>
              </a:ext>
            </a:extLst>
          </p:cNvPr>
          <p:cNvSpPr/>
          <p:nvPr/>
        </p:nvSpPr>
        <p:spPr>
          <a:xfrm>
            <a:off x="5456903" y="3736258"/>
            <a:ext cx="1140542" cy="7570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7573075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CASO MIRADOR – SUBSISTEMA 1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384304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CICLO DE VIDA DEL SOFTWARE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733B57D9-BF13-9372-D021-14655CF00C4C}"/>
              </a:ext>
            </a:extLst>
          </p:cNvPr>
          <p:cNvSpPr txBox="1"/>
          <p:nvPr/>
        </p:nvSpPr>
        <p:spPr>
          <a:xfrm>
            <a:off x="1" y="4082446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Fases aplicadas al proyecto</a:t>
            </a:r>
            <a:endParaRPr lang="es-CL" dirty="0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08D4A171-2FE3-5173-34E6-9DC3D74E7376}"/>
              </a:ext>
            </a:extLst>
          </p:cNvPr>
          <p:cNvSpPr/>
          <p:nvPr/>
        </p:nvSpPr>
        <p:spPr>
          <a:xfrm>
            <a:off x="614515" y="2040571"/>
            <a:ext cx="10962967" cy="157522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CL" sz="1400" b="1" dirty="0"/>
              <a:t>Análisis:</a:t>
            </a:r>
            <a:r>
              <a:rPr lang="es-CL" sz="1400" dirty="0"/>
              <a:t> Levantamiento de procesos de cobro, registros manuales actuales y definición de requisitos de alto nivel. </a:t>
            </a:r>
          </a:p>
          <a:p>
            <a:r>
              <a:rPr lang="es-CL" sz="1400" b="1" dirty="0"/>
              <a:t>Diseño:</a:t>
            </a:r>
            <a:r>
              <a:rPr lang="es-CL" sz="1400" dirty="0"/>
              <a:t> Modelamiento de la base de datos para los 160 departamentos, diseño de la interfaz de usuario intuitiva y de la arquitectura </a:t>
            </a:r>
            <a:r>
              <a:rPr lang="es-CL" sz="1400" dirty="0" err="1"/>
              <a:t>cloud</a:t>
            </a:r>
            <a:r>
              <a:rPr lang="es-CL" sz="1400" dirty="0"/>
              <a:t>. </a:t>
            </a:r>
          </a:p>
          <a:p>
            <a:r>
              <a:rPr lang="es-CL" sz="1400" b="1" dirty="0"/>
              <a:t>Desarrollo:</a:t>
            </a:r>
            <a:r>
              <a:rPr lang="es-CL" sz="1400" dirty="0"/>
              <a:t> Programación del módulo de residentes, implementación del motor de cálculo automático y creación del sistema de notificaciones. </a:t>
            </a:r>
          </a:p>
          <a:p>
            <a:r>
              <a:rPr lang="es-CL" sz="1400" b="1" dirty="0" err="1"/>
              <a:t>Testing</a:t>
            </a:r>
            <a:r>
              <a:rPr lang="es-CL" sz="1400" b="1" dirty="0"/>
              <a:t>:</a:t>
            </a:r>
            <a:r>
              <a:rPr lang="es-CL" sz="1400" dirty="0"/>
              <a:t> Ejecución de pruebas unitarias, evaluación heurística de Nielsen y pruebas de aceptación con el administrador y los residentes. </a:t>
            </a:r>
          </a:p>
          <a:p>
            <a:r>
              <a:rPr lang="es-CL" sz="1400" b="1" dirty="0"/>
              <a:t>Mantenimiento:</a:t>
            </a:r>
            <a:r>
              <a:rPr lang="es-CL" sz="1400" dirty="0"/>
              <a:t> Capacitación de conserjes, puesta en marcha y soporte </a:t>
            </a:r>
            <a:r>
              <a:rPr lang="es-CL" sz="1400" dirty="0" err="1"/>
              <a:t>post-implementación</a:t>
            </a:r>
            <a:r>
              <a:rPr lang="es-CL" sz="1400" dirty="0"/>
              <a:t>.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7E63425F-86F4-531E-E0F5-7A349604A51E}"/>
              </a:ext>
            </a:extLst>
          </p:cNvPr>
          <p:cNvSpPr/>
          <p:nvPr/>
        </p:nvSpPr>
        <p:spPr>
          <a:xfrm>
            <a:off x="614514" y="4732407"/>
            <a:ext cx="10962967" cy="157522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Normativa aplicada: La normativa ISO/IEC 25000, fue aplicada al proyecto para garantizar usabilidad, rendimiento y mantenibilidad.</a:t>
            </a:r>
          </a:p>
        </p:txBody>
      </p:sp>
    </p:spTree>
    <p:extLst>
      <p:ext uri="{BB962C8B-B14F-4D97-AF65-F5344CB8AC3E}">
        <p14:creationId xmlns:p14="http://schemas.microsoft.com/office/powerpoint/2010/main" val="271766978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CASO MIRADOR – SUBSISTEMA 1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OBJETIVOS, ALCANCE Y LIMITACIONES DEL PROYECTO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AF032C84-5E5C-89FC-4139-24EEF8E52BC5}"/>
              </a:ext>
            </a:extLst>
          </p:cNvPr>
          <p:cNvSpPr txBox="1"/>
          <p:nvPr/>
        </p:nvSpPr>
        <p:spPr>
          <a:xfrm>
            <a:off x="1247686" y="2589376"/>
            <a:ext cx="916109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/>
              <a:t>Objetivos:</a:t>
            </a:r>
            <a:r>
              <a:rPr lang="es-CL" dirty="0"/>
              <a:t> Desarrollar una solución tecnológica para automatizar el cálculo y pago de gastos comunes, asegurando transparencia, precisión en la cobranza y reduciendo la morosidad. </a:t>
            </a:r>
          </a:p>
          <a:p>
            <a:endParaRPr lang="es-CL" dirty="0"/>
          </a:p>
          <a:p>
            <a:r>
              <a:rPr lang="es-CL" b="1" dirty="0"/>
              <a:t>Alcance :</a:t>
            </a:r>
            <a:r>
              <a:rPr lang="es-CL" dirty="0"/>
              <a:t> Abarca la digitalización del registro de los 160 departamentos (propietarios y arrendatarios), control de tareas de mantención, ciclo de facturación, pasarela de cobros y un módulo de tickets (quejas y requerimientos). Operará bajo un entorno web. </a:t>
            </a:r>
          </a:p>
          <a:p>
            <a:endParaRPr lang="es-CL" dirty="0"/>
          </a:p>
          <a:p>
            <a:r>
              <a:rPr lang="es-CL" b="1" dirty="0"/>
              <a:t>Limitaciones :</a:t>
            </a:r>
            <a:r>
              <a:rPr lang="es-CL" dirty="0"/>
              <a:t> El sistema está limitado a que los usuarios posean acceso a internet y dispositivos compatibles. Además, tiene estricta dependencia de servicios de terceros: el hosting en la nube y la integración con la pasarela de pagos externa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299956469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CASO MIRADOR – SUBSISTEMA 1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ESTRATEGIAS DE GESTIÓN DEL PROYECTO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4C3AC398-BD88-C36D-217E-5811B980B7CB}"/>
              </a:ext>
            </a:extLst>
          </p:cNvPr>
          <p:cNvSpPr txBox="1"/>
          <p:nvPr/>
        </p:nvSpPr>
        <p:spPr>
          <a:xfrm>
            <a:off x="991312" y="2213361"/>
            <a:ext cx="1009258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/>
              <a:t>Metodología en Cascada :</a:t>
            </a:r>
            <a:r>
              <a:rPr lang="es-CL" dirty="0"/>
              <a:t> Estructura lineal y ordenada dividida en etapas secuenciales: levantamiento de requisitos, Análisis y Diseño, Implementación (prototipo), Pruebas (</a:t>
            </a:r>
            <a:r>
              <a:rPr lang="es-CL" dirty="0" err="1"/>
              <a:t>Testing</a:t>
            </a:r>
            <a:r>
              <a:rPr lang="es-CL" dirty="0"/>
              <a:t>) y Despliegue y Mantenimiento.</a:t>
            </a:r>
          </a:p>
          <a:p>
            <a:r>
              <a:rPr lang="es-CL" b="1" dirty="0"/>
              <a:t>Estrategia de Prototipado:</a:t>
            </a:r>
            <a:r>
              <a:rPr lang="es-CL" dirty="0"/>
              <a:t> Construcción visual e interactiva de alta fidelidad en </a:t>
            </a:r>
            <a:r>
              <a:rPr lang="es-CL" dirty="0" err="1"/>
              <a:t>Figma</a:t>
            </a:r>
            <a:r>
              <a:rPr lang="es-CL" dirty="0"/>
              <a:t> para validar los flujos financieros antes del desarrollo.</a:t>
            </a:r>
          </a:p>
          <a:p>
            <a:r>
              <a:rPr lang="es-CL" b="1" dirty="0"/>
              <a:t>Control de Configuración (GitHub):</a:t>
            </a:r>
            <a:r>
              <a:rPr lang="es-CL" dirty="0"/>
              <a:t> Centralización del documento DAS en un repositorio de GitHub, aplicando </a:t>
            </a:r>
            <a:r>
              <a:rPr lang="es-CL" dirty="0" err="1"/>
              <a:t>Versionamiento</a:t>
            </a:r>
            <a:r>
              <a:rPr lang="es-CL" dirty="0"/>
              <a:t> Semántico (</a:t>
            </a:r>
            <a:r>
              <a:rPr lang="es-CL" dirty="0" err="1"/>
              <a:t>ej</a:t>
            </a:r>
            <a:r>
              <a:rPr lang="es-CL" dirty="0"/>
              <a:t>: v1.0.0, v2.1.1) para registrar formalmente cada cambio.</a:t>
            </a:r>
          </a:p>
          <a:p>
            <a:endParaRPr lang="es-CL" dirty="0"/>
          </a:p>
        </p:txBody>
      </p:sp>
      <p:pic>
        <p:nvPicPr>
          <p:cNvPr id="3" name="Imagen 2" descr="Así es GitHub, la (casi) desconocida plataforma para desarrolladores por la  que Microsoft ha pagado 6.400 MM€">
            <a:extLst>
              <a:ext uri="{FF2B5EF4-FFF2-40B4-BE49-F238E27FC236}">
                <a16:creationId xmlns:a16="http://schemas.microsoft.com/office/drawing/2014/main" id="{8196EA67-0A00-52E4-677A-990CB10456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312" y="3973527"/>
            <a:ext cx="4066375" cy="2287336"/>
          </a:xfrm>
          <a:prstGeom prst="rect">
            <a:avLst/>
          </a:prstGeom>
        </p:spPr>
      </p:pic>
      <p:pic>
        <p:nvPicPr>
          <p:cNvPr id="4" name="Imagen 3" descr="7 razones que muestran la importancia de Figma - Desafío Latam">
            <a:extLst>
              <a:ext uri="{FF2B5EF4-FFF2-40B4-BE49-F238E27FC236}">
                <a16:creationId xmlns:a16="http://schemas.microsoft.com/office/drawing/2014/main" id="{53BBDEC6-396B-ED67-A7B5-676E9E355E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8448" y="4126239"/>
            <a:ext cx="3963824" cy="1981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199749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CASO MIRADOR – SUBSISTEMA 1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270382" y="992902"/>
            <a:ext cx="12191999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PLANIFICACIÓN DEL PROYECTO (EDT + CARTA GANTT)</a:t>
            </a:r>
          </a:p>
          <a:p>
            <a:pPr algn="ctr"/>
            <a:endParaRPr lang="es-CL" sz="1000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40B8D8A9-C1B3-6CC7-B188-F1DFE6D355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361" y="2219156"/>
            <a:ext cx="10593278" cy="241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3383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C1BE41D6-452A-32CE-BFFF-DE4904547BD0}"/>
              </a:ext>
            </a:extLst>
          </p:cNvPr>
          <p:cNvSpPr txBox="1"/>
          <p:nvPr/>
        </p:nvSpPr>
        <p:spPr>
          <a:xfrm>
            <a:off x="205099" y="1922804"/>
            <a:ext cx="1017804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/>
              <a:t>1.0 Levantamiento y Análisis de Requerimientos</a:t>
            </a:r>
            <a:endParaRPr lang="es-CL" dirty="0"/>
          </a:p>
          <a:p>
            <a:r>
              <a:rPr lang="es-CL" dirty="0"/>
              <a:t>1.1 Planificación y reuniones con administración y residentes.</a:t>
            </a:r>
          </a:p>
          <a:p>
            <a:r>
              <a:rPr lang="es-CL" dirty="0"/>
              <a:t>1.2 Redacción del documento de requisitos (Norma IEEE 830).</a:t>
            </a:r>
          </a:p>
          <a:p>
            <a:r>
              <a:rPr lang="es-CL" dirty="0"/>
              <a:t>1.3 Validación y firma de aprobación de requerimientos.</a:t>
            </a:r>
          </a:p>
          <a:p>
            <a:r>
              <a:rPr lang="es-CL" b="1" dirty="0"/>
              <a:t>2.0 Diseño y Arquitectura de Software</a:t>
            </a:r>
            <a:endParaRPr lang="es-CL" dirty="0"/>
          </a:p>
          <a:p>
            <a:r>
              <a:rPr lang="es-CL" dirty="0"/>
              <a:t>2.1 Elaboración del Documento de Arquitectura de Software (DAS 4+1).</a:t>
            </a:r>
          </a:p>
          <a:p>
            <a:r>
              <a:rPr lang="es-CL" dirty="0"/>
              <a:t>2.2 Diseño del Modelo Relacional y Físico de Base de Datos (Oracle).</a:t>
            </a:r>
          </a:p>
          <a:p>
            <a:r>
              <a:rPr lang="es-CL" dirty="0"/>
              <a:t>2.3 Diseño de interfaces y prototipos de alta fidelidad (</a:t>
            </a:r>
            <a:r>
              <a:rPr lang="es-CL" dirty="0" err="1"/>
              <a:t>Figma</a:t>
            </a:r>
            <a:r>
              <a:rPr lang="es-CL" dirty="0"/>
              <a:t>).</a:t>
            </a:r>
          </a:p>
          <a:p>
            <a:r>
              <a:rPr lang="es-CL" b="1" dirty="0"/>
              <a:t>3.0 Desarrollo y Construcción (</a:t>
            </a:r>
            <a:r>
              <a:rPr lang="es-CL" b="1" dirty="0" err="1"/>
              <a:t>Sprints</a:t>
            </a:r>
            <a:r>
              <a:rPr lang="es-CL" b="1" dirty="0"/>
              <a:t> MVC)</a:t>
            </a:r>
            <a:endParaRPr lang="es-CL" dirty="0"/>
          </a:p>
          <a:p>
            <a:r>
              <a:rPr lang="es-CL" dirty="0"/>
              <a:t>3.1 Implementación de la Capa de Presentación y Módulo de Login.</a:t>
            </a:r>
          </a:p>
          <a:p>
            <a:r>
              <a:rPr lang="es-CL" dirty="0"/>
              <a:t>3.2 Programación del Motor Financiero (Algoritmos de Prorrateo y Gastos Comunes).</a:t>
            </a:r>
          </a:p>
          <a:p>
            <a:r>
              <a:rPr lang="es-CL" dirty="0"/>
              <a:t>3.3 Desarrollo del Módulo de Morosidad y Motor de Alertas por Email.</a:t>
            </a:r>
          </a:p>
          <a:p>
            <a:r>
              <a:rPr lang="es-CL" b="1" dirty="0"/>
              <a:t>4.0 Control de Calidad y Despliegue</a:t>
            </a:r>
            <a:endParaRPr lang="es-CL" dirty="0"/>
          </a:p>
          <a:p>
            <a:r>
              <a:rPr lang="es-CL" dirty="0"/>
              <a:t>4.1 Ejecución de Pruebas Unitarias Financieras (Cálculos con 0% error).</a:t>
            </a:r>
          </a:p>
          <a:p>
            <a:r>
              <a:rPr lang="es-CL" dirty="0"/>
              <a:t>4.2 Pruebas de Carga y Rendimiento.</a:t>
            </a:r>
          </a:p>
          <a:p>
            <a:r>
              <a:rPr lang="es-CL" dirty="0"/>
              <a:t>4.3 Pruebas de Usabilidad con Usuarios Finales (Heurísticas de Nielsen).</a:t>
            </a:r>
          </a:p>
          <a:p>
            <a:endParaRPr lang="es-CL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E53AAA8-0E46-A0FC-602B-E545C33A1ED7}"/>
              </a:ext>
            </a:extLst>
          </p:cNvPr>
          <p:cNvSpPr txBox="1"/>
          <p:nvPr/>
        </p:nvSpPr>
        <p:spPr>
          <a:xfrm>
            <a:off x="1307506" y="592969"/>
            <a:ext cx="79732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dirty="0"/>
              <a:t>PLANIFICACIÓN DEL PROYECTO (EDT + CARTA GANTT)</a:t>
            </a:r>
          </a:p>
        </p:txBody>
      </p:sp>
    </p:spTree>
    <p:extLst>
      <p:ext uri="{BB962C8B-B14F-4D97-AF65-F5344CB8AC3E}">
        <p14:creationId xmlns:p14="http://schemas.microsoft.com/office/powerpoint/2010/main" val="287790015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CASO MIRADOR – SUBSISTEMA 1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77CBD538-FC6C-A383-A8FF-1C88CB2EF074}"/>
              </a:ext>
            </a:extLst>
          </p:cNvPr>
          <p:cNvSpPr txBox="1"/>
          <p:nvPr/>
        </p:nvSpPr>
        <p:spPr>
          <a:xfrm>
            <a:off x="3082895" y="3246470"/>
            <a:ext cx="61657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CL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60DEAA0-B885-3CFF-C230-19D384045974}"/>
              </a:ext>
            </a:extLst>
          </p:cNvPr>
          <p:cNvSpPr txBox="1"/>
          <p:nvPr/>
        </p:nvSpPr>
        <p:spPr>
          <a:xfrm>
            <a:off x="3082895" y="3246470"/>
            <a:ext cx="61657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CL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5D3F97C7-DD10-7915-72FF-2F351F5381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7780" y="1184442"/>
            <a:ext cx="5970018" cy="4982429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FF83A557-4CEF-48C7-C5C2-74CC233BE842}"/>
              </a:ext>
            </a:extLst>
          </p:cNvPr>
          <p:cNvSpPr txBox="1"/>
          <p:nvPr/>
        </p:nvSpPr>
        <p:spPr>
          <a:xfrm>
            <a:off x="632751" y="2736502"/>
            <a:ext cx="356323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/>
              <a:t>DIAGRAMA DE CASOS DE USO GENERAL</a:t>
            </a:r>
            <a:endParaRPr lang="es-CL" sz="3600" b="1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B00E3A71-D949-DCDA-A950-55C900FCACE7}"/>
              </a:ext>
            </a:extLst>
          </p:cNvPr>
          <p:cNvSpPr txBox="1"/>
          <p:nvPr/>
        </p:nvSpPr>
        <p:spPr>
          <a:xfrm>
            <a:off x="504202" y="1184442"/>
            <a:ext cx="29824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ARQUITECTURA DE SOFTWARE - MODELO 4+1 (UML)</a:t>
            </a:r>
          </a:p>
        </p:txBody>
      </p:sp>
    </p:spTree>
    <p:extLst>
      <p:ext uri="{BB962C8B-B14F-4D97-AF65-F5344CB8AC3E}">
        <p14:creationId xmlns:p14="http://schemas.microsoft.com/office/powerpoint/2010/main" val="1890491460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F64E400D-E4EA-6EE4-6C62-CAB350BF35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868886"/>
            <a:ext cx="5537863" cy="5120227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ECF05DB5-D323-F23F-6F53-29F07E832221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CASO MIRADOR – SUBSISTEMA 1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9D66EB9-6C8F-3C1F-5132-C5F1316D5C64}"/>
              </a:ext>
            </a:extLst>
          </p:cNvPr>
          <p:cNvSpPr txBox="1"/>
          <p:nvPr/>
        </p:nvSpPr>
        <p:spPr>
          <a:xfrm>
            <a:off x="803304" y="1598064"/>
            <a:ext cx="25295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ARQUITECTURA DE SOFTWARE - MODELO 4+1 (UML)</a:t>
            </a:r>
          </a:p>
          <a:p>
            <a:endParaRPr lang="es-CL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C85F869-F173-D3BC-B510-4B1F0CDA69F9}"/>
              </a:ext>
            </a:extLst>
          </p:cNvPr>
          <p:cNvSpPr txBox="1"/>
          <p:nvPr/>
        </p:nvSpPr>
        <p:spPr>
          <a:xfrm>
            <a:off x="717846" y="3244333"/>
            <a:ext cx="29141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/>
              <a:t>DIAGRAMA DE CLASES</a:t>
            </a:r>
            <a:endParaRPr lang="es-CL" sz="3600" b="1" dirty="0"/>
          </a:p>
        </p:txBody>
      </p:sp>
    </p:spTree>
    <p:extLst>
      <p:ext uri="{BB962C8B-B14F-4D97-AF65-F5344CB8AC3E}">
        <p14:creationId xmlns:p14="http://schemas.microsoft.com/office/powerpoint/2010/main" val="72211498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FF68C181-7E8E-BE29-CD70-ED80A6D068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32860" y="1406799"/>
            <a:ext cx="8756683" cy="4044401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82BEEC8D-C3A2-FD66-E937-A503EBDD0A95}"/>
              </a:ext>
            </a:extLst>
          </p:cNvPr>
          <p:cNvSpPr txBox="1"/>
          <p:nvPr/>
        </p:nvSpPr>
        <p:spPr>
          <a:xfrm>
            <a:off x="444381" y="3105834"/>
            <a:ext cx="288847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/>
              <a:t>DIAGRAMA DE COMPONENTES</a:t>
            </a:r>
            <a:endParaRPr lang="es-CL" sz="3200" b="1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060967E-90D6-EBDC-C380-90F80D967EC8}"/>
              </a:ext>
            </a:extLst>
          </p:cNvPr>
          <p:cNvSpPr txBox="1"/>
          <p:nvPr/>
        </p:nvSpPr>
        <p:spPr>
          <a:xfrm>
            <a:off x="444381" y="1341690"/>
            <a:ext cx="25039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ARQUITECTURA DE SOFTWARE - MODELO 4+1 (UML)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892743867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1942D631-6DAD-F6B0-F671-2F80F835090B}"/>
              </a:ext>
            </a:extLst>
          </p:cNvPr>
          <p:cNvSpPr txBox="1"/>
          <p:nvPr/>
        </p:nvSpPr>
        <p:spPr>
          <a:xfrm>
            <a:off x="581114" y="2828658"/>
            <a:ext cx="28457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600" b="1" dirty="0"/>
              <a:t>Diagrama de actividades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5FAFB67-E52D-4359-7F18-19732247CA1E}"/>
              </a:ext>
            </a:extLst>
          </p:cNvPr>
          <p:cNvSpPr txBox="1"/>
          <p:nvPr/>
        </p:nvSpPr>
        <p:spPr>
          <a:xfrm>
            <a:off x="461473" y="1281869"/>
            <a:ext cx="2845750" cy="1196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ARQUITECTURA DE SOFTWARE - MODELO 4+1 (UML)</a:t>
            </a:r>
          </a:p>
          <a:p>
            <a:endParaRPr lang="es-CL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778AADA-8F92-F9A2-6AE8-5F044A9A75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2075" y="904522"/>
            <a:ext cx="6420746" cy="5048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868019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E802F1F9-5F0E-F6EC-0373-A291999767A5}"/>
              </a:ext>
            </a:extLst>
          </p:cNvPr>
          <p:cNvSpPr txBox="1"/>
          <p:nvPr/>
        </p:nvSpPr>
        <p:spPr>
          <a:xfrm>
            <a:off x="504202" y="2939753"/>
            <a:ext cx="30252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600" b="1" dirty="0"/>
              <a:t>DIAGRAMA DESPLIEGUE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106F1FC-CB50-A934-DD57-D1B291FA4A3C}"/>
              </a:ext>
            </a:extLst>
          </p:cNvPr>
          <p:cNvSpPr txBox="1"/>
          <p:nvPr/>
        </p:nvSpPr>
        <p:spPr>
          <a:xfrm>
            <a:off x="504202" y="922946"/>
            <a:ext cx="23671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ARQUITECTURA DE SOFTWARE - MODELO 4+1 (UML)</a:t>
            </a:r>
          </a:p>
          <a:p>
            <a:endParaRPr lang="es-CL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7A1DFED-B3B7-89E9-2F7F-938DDA5417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0939" y="647312"/>
            <a:ext cx="6430272" cy="556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819062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CASO MIRADOR – SUBSISTEMA 1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992902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REQUISITOS FUNCIONALES Y NO FUNCIONALES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328F59CB-4796-2DDE-0873-96F2637D9B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3944841"/>
              </p:ext>
            </p:extLst>
          </p:nvPr>
        </p:nvGraphicFramePr>
        <p:xfrm>
          <a:off x="640935" y="1773359"/>
          <a:ext cx="10571148" cy="4714950"/>
        </p:xfrm>
        <a:graphic>
          <a:graphicData uri="http://schemas.openxmlformats.org/drawingml/2006/table">
            <a:tbl>
              <a:tblPr/>
              <a:tblGrid>
                <a:gridCol w="5285574">
                  <a:extLst>
                    <a:ext uri="{9D8B030D-6E8A-4147-A177-3AD203B41FA5}">
                      <a16:colId xmlns:a16="http://schemas.microsoft.com/office/drawing/2014/main" val="3280504409"/>
                    </a:ext>
                  </a:extLst>
                </a:gridCol>
                <a:gridCol w="5285574">
                  <a:extLst>
                    <a:ext uri="{9D8B030D-6E8A-4147-A177-3AD203B41FA5}">
                      <a16:colId xmlns:a16="http://schemas.microsoft.com/office/drawing/2014/main" val="468884122"/>
                    </a:ext>
                  </a:extLst>
                </a:gridCol>
              </a:tblGrid>
              <a:tr h="255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400" b="1"/>
                        <a:t>Registro y gestión de residentes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400" b="1"/>
                        <a:t>Funcional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3347110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400" b="1"/>
                        <a:t>Registro de departamentos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400" b="1"/>
                        <a:t>Funcional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5938441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400" b="1"/>
                        <a:t>Cálculo de gastos comunes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400" b="1"/>
                        <a:t>Funcional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4603486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400" b="1"/>
                        <a:t>Pago mediante pasarela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400" b="1"/>
                        <a:t>Funcional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1045950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400" b="1"/>
                        <a:t>Visualización de historial de deudas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400" b="1"/>
                        <a:t>Funcional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9466342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400" b="1"/>
                        <a:t>Generación de comprobantes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400" b="1"/>
                        <a:t>Funcional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220836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400" b="1"/>
                        <a:t>Gestión de solicitudes y reclamos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400" b="1" dirty="0"/>
                        <a:t>Funcional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0447051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400" b="1"/>
                        <a:t>Registro de visitas y paquetes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400" b="1"/>
                        <a:t>Funcional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6642834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400" b="1"/>
                        <a:t>Reportes financieros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400" b="1"/>
                        <a:t>Funcional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8921472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400" b="1"/>
                        <a:t>Notificación de eventos a usuarios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400" b="1"/>
                        <a:t>Funcional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737099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400" b="1"/>
                        <a:t>Seguridad y control de acceso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400" b="1"/>
                        <a:t>No Funcional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92212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400" b="1" dirty="0"/>
                        <a:t>Disponibilidad del sistema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400" b="1"/>
                        <a:t>No Funcional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8313876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400" b="1"/>
                        <a:t>Rendimiento (tiempo de respuesta)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400" b="1"/>
                        <a:t>No Funcional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789825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400" b="1"/>
                        <a:t>Usabilidad (interfaz responsive)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400" b="1"/>
                        <a:t>No Funcional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5810397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400" b="1"/>
                        <a:t>Escalabilidad del sistema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400" b="1"/>
                        <a:t>No Funcional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6322838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400" b="1"/>
                        <a:t>Mantenibilidad del código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400" b="1"/>
                        <a:t>No Funcional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0061111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400" b="1"/>
                        <a:t>Integridad de datos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400" b="1" dirty="0"/>
                        <a:t>No Funcional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05879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2457618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CASO MIRADOR – SUBSISTEMA 1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1" y="1082278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ESTÁNDARES DE CALIDAD - ISO25000 Y OTROS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CFC43D6A-900A-8758-FAA5-978ABEA294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7444031"/>
              </p:ext>
            </p:extLst>
          </p:nvPr>
        </p:nvGraphicFramePr>
        <p:xfrm>
          <a:off x="136188" y="1825624"/>
          <a:ext cx="11777370" cy="4824825"/>
        </p:xfrm>
        <a:graphic>
          <a:graphicData uri="http://schemas.openxmlformats.org/drawingml/2006/table">
            <a:tbl>
              <a:tblPr/>
              <a:tblGrid>
                <a:gridCol w="3925790">
                  <a:extLst>
                    <a:ext uri="{9D8B030D-6E8A-4147-A177-3AD203B41FA5}">
                      <a16:colId xmlns:a16="http://schemas.microsoft.com/office/drawing/2014/main" val="2424338276"/>
                    </a:ext>
                  </a:extLst>
                </a:gridCol>
                <a:gridCol w="3925790">
                  <a:extLst>
                    <a:ext uri="{9D8B030D-6E8A-4147-A177-3AD203B41FA5}">
                      <a16:colId xmlns:a16="http://schemas.microsoft.com/office/drawing/2014/main" val="751048424"/>
                    </a:ext>
                  </a:extLst>
                </a:gridCol>
                <a:gridCol w="3925790">
                  <a:extLst>
                    <a:ext uri="{9D8B030D-6E8A-4147-A177-3AD203B41FA5}">
                      <a16:colId xmlns:a16="http://schemas.microsoft.com/office/drawing/2014/main" val="3629716407"/>
                    </a:ext>
                  </a:extLst>
                </a:gridCol>
              </a:tblGrid>
              <a:tr h="4503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100"/>
                        <a:t>Atributo (ISO 25000 / Calidad)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100"/>
                        <a:t>Escenario de Arquitectura / Estímulo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100"/>
                        <a:t>Métrica / Criterio de Aceptación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0012785"/>
                  </a:ext>
                </a:extLst>
              </a:tr>
              <a:tr h="8363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100" b="1" dirty="0"/>
                        <a:t>Seguridad</a:t>
                      </a:r>
                      <a:r>
                        <a:rPr lang="es-CL" sz="1100" dirty="0"/>
                        <a:t> </a:t>
                      </a:r>
                      <a:r>
                        <a:rPr lang="es-CL" sz="1100" i="1" dirty="0"/>
                        <a:t>(Control de acceso y protección)</a:t>
                      </a:r>
                      <a:endParaRPr lang="es-CL" sz="1100" dirty="0"/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100"/>
                        <a:t>Privacidad de los 160 residentes y transacciones bancarias entre el navegador y el servidor.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100"/>
                        <a:t>Comunicación 100% cifrada mediante TLS/SSL y contraseñas guardadas con algoritmo de hash BCrypt.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2383814"/>
                  </a:ext>
                </a:extLst>
              </a:tr>
              <a:tr h="8363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100" b="1"/>
                        <a:t>Disponibilidad</a:t>
                      </a:r>
                      <a:r>
                        <a:rPr lang="es-CL" sz="1100"/>
                        <a:t> </a:t>
                      </a:r>
                      <a:r>
                        <a:rPr lang="es-CL" sz="1100" i="1"/>
                        <a:t>(Tolerancia a caídas)</a:t>
                      </a:r>
                      <a:endParaRPr lang="es-CL" sz="1100"/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100"/>
                        <a:t>El conserje registra visitas o el residente paga deudas en cualquier horario. El sistema sufre una caída controlada.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100"/>
                        <a:t>Uptime del 99.9%. El servidor de respaldo (Backup) debe activarse en menos de 5 minutos.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5928367"/>
                  </a:ext>
                </a:extLst>
              </a:tr>
              <a:tr h="8363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100" b="1"/>
                        <a:t>Rendimiento / Eficiencia</a:t>
                      </a:r>
                      <a:r>
                        <a:rPr lang="es-CL" sz="1100"/>
                        <a:t> </a:t>
                      </a:r>
                      <a:r>
                        <a:rPr lang="es-CL" sz="1100" i="1"/>
                        <a:t>(Tiempo de respuesta)</a:t>
                      </a:r>
                      <a:endParaRPr lang="es-CL" sz="1100"/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100"/>
                        <a:t>El administrador ejecuta el cálculo de prorrateo masivo y los usuarios consultan gastos comunes al mismo tiempo.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100"/>
                        <a:t>Tiempo de respuesta máximo de 2 segundos bajo una carga normal de 50 usuarios concurrentes.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5068175"/>
                  </a:ext>
                </a:extLst>
              </a:tr>
              <a:tr h="8363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100" b="1"/>
                        <a:t>Integridad / Fiabilidad</a:t>
                      </a:r>
                      <a:r>
                        <a:rPr lang="es-CL" sz="1100"/>
                        <a:t> </a:t>
                      </a:r>
                      <a:r>
                        <a:rPr lang="es-CL" sz="1100" i="1"/>
                        <a:t>(Consistencia de datos)</a:t>
                      </a:r>
                      <a:endParaRPr lang="es-CL" sz="1100"/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100"/>
                        <a:t>El sistema procesa transacciones financieras en la base de datos.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100"/>
                        <a:t>0 "pagos huérfanos"; todo registro debe vincularse obligatoriamente a un ID de Departamento y a un comprobante PDF.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323599"/>
                  </a:ext>
                </a:extLst>
              </a:tr>
              <a:tr h="10292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100" b="1"/>
                        <a:t>Usabilidad</a:t>
                      </a:r>
                      <a:r>
                        <a:rPr lang="es-CL" sz="1100"/>
                        <a:t> </a:t>
                      </a:r>
                      <a:r>
                        <a:rPr lang="es-CL" sz="1100" i="1"/>
                        <a:t>(Nielsen / Accesibilidad)</a:t>
                      </a:r>
                      <a:endParaRPr lang="es-CL" sz="1100"/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100"/>
                        <a:t>Un residente utiliza un smartphone o tablet para consultar y pagar su deuda mensual.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100" dirty="0"/>
                        <a:t>Diseño Responsive adaptativo y pago completado en un máximo de 4 clics desde el inicio de sesión. Cumplimiento del 90% en heurísticas de Nielsen.</a:t>
                      </a:r>
                    </a:p>
                  </a:txBody>
                  <a:tcPr marL="58018" marR="58018" marT="29009" marB="290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29673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5368746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0" y="992902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DEMOSTRACIÓN DEL PROTOTIPO DE ALTA FIDELIDAD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DF662CC-87CA-27A5-DB83-4B952D780F2F}"/>
              </a:ext>
            </a:extLst>
          </p:cNvPr>
          <p:cNvSpPr txBox="1"/>
          <p:nvPr/>
        </p:nvSpPr>
        <p:spPr>
          <a:xfrm>
            <a:off x="68366" y="1762343"/>
            <a:ext cx="26577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/>
              <a:t>Nuestra herramienta de diseño fue FIGMA</a:t>
            </a:r>
            <a:endParaRPr lang="es-CL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E3C7464-177D-8841-48EB-E1CC7DD82FC8}"/>
              </a:ext>
            </a:extLst>
          </p:cNvPr>
          <p:cNvSpPr txBox="1"/>
          <p:nvPr/>
        </p:nvSpPr>
        <p:spPr>
          <a:xfrm>
            <a:off x="2933344" y="3246470"/>
            <a:ext cx="6328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CL" dirty="0"/>
          </a:p>
        </p:txBody>
      </p:sp>
      <p:pic>
        <p:nvPicPr>
          <p:cNvPr id="7" name="Imagen 6" descr="7 razones que muestran la importancia de Figma - Desafío Latam">
            <a:extLst>
              <a:ext uri="{FF2B5EF4-FFF2-40B4-BE49-F238E27FC236}">
                <a16:creationId xmlns:a16="http://schemas.microsoft.com/office/drawing/2014/main" id="{54E8BC1D-236E-6519-8B60-00F8CF4E43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66" y="2351291"/>
            <a:ext cx="2763650" cy="138182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BCED7F7-064E-56B7-414C-2B96A2A3BB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0496" y="1747091"/>
            <a:ext cx="9136173" cy="4903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174681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CE740-5FE9-19B3-1200-F04763887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B30F8D0D-31AD-5C6C-D384-C2A17C2426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44A2B1D5-3B9A-B69F-E619-1841EA7A14E0}"/>
              </a:ext>
            </a:extLst>
          </p:cNvPr>
          <p:cNvSpPr txBox="1"/>
          <p:nvPr/>
        </p:nvSpPr>
        <p:spPr>
          <a:xfrm>
            <a:off x="0" y="992902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DEMOSTRACIÓN DEL PROTOTIPO DE ALTA FIDELIDAD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492DD83-C864-5A9C-F284-0C4E5A1D3B92}"/>
              </a:ext>
            </a:extLst>
          </p:cNvPr>
          <p:cNvSpPr txBox="1"/>
          <p:nvPr/>
        </p:nvSpPr>
        <p:spPr>
          <a:xfrm>
            <a:off x="2933344" y="3246470"/>
            <a:ext cx="6328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CL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6D4C095-5618-D689-1C50-E2A72F6B97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2140" y="1762343"/>
            <a:ext cx="8810715" cy="4737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607708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98D8D-500D-59B8-9654-EC20CABDE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FFED970-46D6-9D97-BBE3-5A003B4872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7AC516A-473E-9595-2E38-90324DAB69A2}"/>
              </a:ext>
            </a:extLst>
          </p:cNvPr>
          <p:cNvSpPr txBox="1"/>
          <p:nvPr/>
        </p:nvSpPr>
        <p:spPr>
          <a:xfrm>
            <a:off x="0" y="992902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DEMOSTRACIÓN DEL PROTOTIPO DE ALTA FIDELIDAD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E7F9FD1-6806-E9F8-96BA-01711A7170D1}"/>
              </a:ext>
            </a:extLst>
          </p:cNvPr>
          <p:cNvSpPr txBox="1"/>
          <p:nvPr/>
        </p:nvSpPr>
        <p:spPr>
          <a:xfrm>
            <a:off x="2933344" y="3246470"/>
            <a:ext cx="6328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CL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74BF57C-84CE-9EF0-AE2C-4F28457B88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4580" y="1673988"/>
            <a:ext cx="8822837" cy="4624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66852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F5C19-6506-8DDE-3C3B-FCC97050B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6DC221D3-DA78-68CD-7072-E97D77CE9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66C68B89-5994-D87A-F694-1587E2DAB573}"/>
              </a:ext>
            </a:extLst>
          </p:cNvPr>
          <p:cNvSpPr txBox="1"/>
          <p:nvPr/>
        </p:nvSpPr>
        <p:spPr>
          <a:xfrm>
            <a:off x="0" y="992902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DEMOSTRACIÓN DEL PROTOTIPO DE ALTA FIDELIDAD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321043E-8ECA-9944-AB3C-A6F568CAAD85}"/>
              </a:ext>
            </a:extLst>
          </p:cNvPr>
          <p:cNvSpPr txBox="1"/>
          <p:nvPr/>
        </p:nvSpPr>
        <p:spPr>
          <a:xfrm>
            <a:off x="2933344" y="3246470"/>
            <a:ext cx="6328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CL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A7C48AD-BB5C-38D2-EB1D-6618D501BC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0642" y="1877936"/>
            <a:ext cx="8810715" cy="4629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133063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79AB1-D0FC-3B1B-78FE-4ED567D8F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FAB0B1C8-2A19-B4F0-FE49-110D237F49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673EFBDD-69FE-91CF-D869-D35909E7E26C}"/>
              </a:ext>
            </a:extLst>
          </p:cNvPr>
          <p:cNvSpPr txBox="1"/>
          <p:nvPr/>
        </p:nvSpPr>
        <p:spPr>
          <a:xfrm>
            <a:off x="0" y="992902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DEMOSTRACIÓN DEL PROTOTIPO DE ALTA FIDELIDAD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1B29FBE-B5DD-C311-020E-184863708C9F}"/>
              </a:ext>
            </a:extLst>
          </p:cNvPr>
          <p:cNvSpPr txBox="1"/>
          <p:nvPr/>
        </p:nvSpPr>
        <p:spPr>
          <a:xfrm>
            <a:off x="2933344" y="3246470"/>
            <a:ext cx="6328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CL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43D89FE-C2BC-47C3-11B3-ED36CEE96C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0593" y="1762343"/>
            <a:ext cx="9423163" cy="5089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813705"/>
      </p:ext>
    </p:ext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766885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PLAN DE PRUEBAS Y CASOS DE PRUEBA (ISO25000)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7879A16-2A8F-F8DB-28EE-C165150871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33" y="2196269"/>
            <a:ext cx="10427333" cy="3208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893737"/>
      </p:ext>
    </p:extLst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2F606-D3BC-372E-89EE-E502C1E50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B9F218FC-59B8-CFA2-5387-D536F6867C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1985A278-0195-9D79-E11D-F2F69F144CCB}"/>
              </a:ext>
            </a:extLst>
          </p:cNvPr>
          <p:cNvSpPr txBox="1"/>
          <p:nvPr/>
        </p:nvSpPr>
        <p:spPr>
          <a:xfrm>
            <a:off x="1" y="766885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PLAN DE PRUEBAS Y CASOS DE PRUEBA (ISO25000)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D0F41AD-A103-99FA-2537-FE5A7DE691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9319" y="1373956"/>
            <a:ext cx="6673362" cy="5150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486706"/>
      </p:ext>
    </p:ext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40FC9-31ED-D3A5-E06A-989DA1D42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9AC477B3-542A-7497-C9AB-013071533C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144C7FBD-DA0C-1723-1FBB-040523413A04}"/>
              </a:ext>
            </a:extLst>
          </p:cNvPr>
          <p:cNvSpPr txBox="1"/>
          <p:nvPr/>
        </p:nvSpPr>
        <p:spPr>
          <a:xfrm>
            <a:off x="1" y="766885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PLAN DE PRUEBAS Y CASOS DE PRUEBA (ISO25000)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14B30EA-BFBC-23AF-DF92-500B810818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4809" y="1989831"/>
            <a:ext cx="9002381" cy="388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006141"/>
      </p:ext>
    </p:ext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1360773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ACCIONES DE MEJORA Y CONTROL DE VERSIONES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38AF4DF-AED6-A796-E22B-AD83695F89CB}"/>
              </a:ext>
            </a:extLst>
          </p:cNvPr>
          <p:cNvSpPr txBox="1"/>
          <p:nvPr/>
        </p:nvSpPr>
        <p:spPr>
          <a:xfrm>
            <a:off x="367468" y="2264636"/>
            <a:ext cx="823814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Tras realizar la evaluación bajo las 10 heurísticas de Jakob Nielsen en el prototipo, el sistema obtuvo un cumplimiento del 90% en usabilidad. Se identificaron y aplicaron las siguientes acciones: </a:t>
            </a:r>
          </a:p>
          <a:p>
            <a:r>
              <a:rPr lang="es-CL" b="1" dirty="0"/>
              <a:t>Prevención de errores:</a:t>
            </a:r>
            <a:r>
              <a:rPr lang="es-CL" dirty="0"/>
              <a:t> El objetivo de la evaluación fue asegurar que el diseño sea fácil de aprender y minimice los errores de usuario durante el proceso de pago. </a:t>
            </a:r>
          </a:p>
          <a:p>
            <a:r>
              <a:rPr lang="es-CL" b="1" dirty="0"/>
              <a:t>Ayuda y documentación:</a:t>
            </a:r>
            <a:r>
              <a:rPr lang="es-CL" dirty="0"/>
              <a:t> Se detectaron fallas menores en esta heurística específica, las cuales se resolvieron agregando un manual de usuario descargable en el pie de página del portal. </a:t>
            </a:r>
          </a:p>
          <a:p>
            <a:endParaRPr lang="es-CL" dirty="0"/>
          </a:p>
          <a:p>
            <a:r>
              <a:rPr lang="es-CL" b="1" dirty="0"/>
              <a:t>Control de Versiones</a:t>
            </a:r>
          </a:p>
          <a:p>
            <a:r>
              <a:rPr lang="es-CL" b="1" dirty="0"/>
              <a:t>Repositorio Centralizado (GitHub</a:t>
            </a:r>
            <a:endParaRPr lang="es-CL" dirty="0"/>
          </a:p>
          <a:p>
            <a:r>
              <a:rPr lang="es-CL" b="1" dirty="0"/>
              <a:t>Trazabilidad</a:t>
            </a:r>
            <a:endParaRPr lang="es-CL" dirty="0"/>
          </a:p>
          <a:p>
            <a:r>
              <a:rPr lang="es-CL" b="1" dirty="0" err="1"/>
              <a:t>Versionamiento</a:t>
            </a:r>
            <a:r>
              <a:rPr lang="es-CL" b="1" dirty="0"/>
              <a:t> Incremental</a:t>
            </a:r>
            <a:endParaRPr lang="es-CL" dirty="0"/>
          </a:p>
          <a:p>
            <a:endParaRPr lang="es-CL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E0115C1-EC47-6F04-7B4C-4130DA1ED5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0343" y="2606467"/>
            <a:ext cx="3153215" cy="3124636"/>
          </a:xfrm>
          <a:prstGeom prst="rect">
            <a:avLst/>
          </a:prstGeom>
        </p:spPr>
      </p:pic>
      <p:pic>
        <p:nvPicPr>
          <p:cNvPr id="6" name="Imagen 5" descr="Qué es GitHub y por qué es útil en la actualidad 💻 | HACK A BOSS">
            <a:extLst>
              <a:ext uri="{FF2B5EF4-FFF2-40B4-BE49-F238E27FC236}">
                <a16:creationId xmlns:a16="http://schemas.microsoft.com/office/drawing/2014/main" id="{D2E0874E-6B74-9012-19D0-353E5C2457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7090" y="4442388"/>
            <a:ext cx="1617826" cy="1617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268508"/>
      </p:ext>
    </p:extLst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PREGUNTAS DE LA COMISIÓN</a:t>
            </a:r>
          </a:p>
        </p:txBody>
      </p:sp>
    </p:spTree>
    <p:extLst>
      <p:ext uri="{BB962C8B-B14F-4D97-AF65-F5344CB8AC3E}">
        <p14:creationId xmlns:p14="http://schemas.microsoft.com/office/powerpoint/2010/main" val="4158079731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</TotalTime>
  <Words>1424</Words>
  <Application>Microsoft Office PowerPoint</Application>
  <PresentationFormat>Panorámica</PresentationFormat>
  <Paragraphs>153</Paragraphs>
  <Slides>25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0" baseType="lpstr">
      <vt:lpstr>Aptos</vt:lpstr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Gerardo Galan Cruz</dc:creator>
  <cp:lastModifiedBy>AXEL ALEJANDRO MONSALVES HIDALGO</cp:lastModifiedBy>
  <cp:revision>6</cp:revision>
  <dcterms:created xsi:type="dcterms:W3CDTF">2023-10-28T21:12:11Z</dcterms:created>
  <dcterms:modified xsi:type="dcterms:W3CDTF">2026-07-10T01:46:17Z</dcterms:modified>
</cp:coreProperties>
</file>